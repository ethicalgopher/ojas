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the Ojas team. Ojas is a fitness app that turns your phone camera into a personal coach and turns every workout into a game. In the next few minutes I will show you what it does, how it works, and where we are going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Ojas does three things. First, it watches you through the phone camera, counts every rep and tells you when your form slips. Second, it makes training a game with points, levels, streaks, and battles. Third, it screens posture and suggests exercises that help. Everything the camera sees stays on the phone. Nine exercises are supported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path of one rep. The camera feed goes into MediaPipe Pose, which runs inside a web view on the phone and even loads from a small local server so it works with no internet. A rule engine for each exercise measures joint angles. A rep counts only when you reach the bottom position and come back to the top. Then the score and form tip show on screen, and the result is saved to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support nine exercises. Six are strength or core moves: squats, sit-ups, lunges, crunches, push-ups. Four are yoga poses: triangle, cobra, child's pose and tree pose, scored by how long you hold a perfect form. Tree pose is the most advanced. It combines geometry rules with a small image classifier that also runs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works on two tracks. The first is your athlete level, driven by XP: one per rep, twenty-five per match, two per calorie, fifty per completed daily challenge. XP also turns into coins for the shop, one coin per ten XP. The second is your ranked tier, from Bronze to Immortal, which only moves with duel results. A win is plus ten, a draw plus five, a defeat minus ten. Streaks keep you coming back, with local reminders at seven and nine thirty in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battle modes. A one-versus-one duel pairs you with a live rival from the queue, or with a simulated rival if nobody is found within about ten seconds. Battle Ground is a free-for-all for up to ten athletes with a live leaderboard. AI Duel pits you against one of four bots, and the bot adapts its speed to how you are doing so the match stays close. You can also challenge a friend directly with an invite.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better together. Add friends by username, challenge them, and join a squad. Squads compete in tournaments and a squad's power is its members' points plus fifty per member. On the avatar side, every player has a 3D character, with two starters, Arjun and Meera. Coins buy outfits from a runner set at one hundred eighty coins up to a legendary firefighter kit at eleven hundred, plus faces, hair and accessories. You can try on anything before you buy, and the server checks every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Ojas can also look after your body. A guided full-body scan takes about four to five seconds of steady standing and checks shoulder level, hip tilt, knee alignment, head tilt, forward head and torso lean. It maps what it sees to five common conditions and recommends exercises for them. To be clear, this is a screening pattern from landmark geometry, not a medical diagnosis, and the app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audience: the app is React Native on Expo with TypeScript and zustand for state. Pose tracking is MediaPipe running in a web view, served offline by a tiny Kotlin server on the device. Three.js with VRM renders the avatars. The backend is a Python FastAPI server for match-making over WebSockets, and Supabase provides the Postgres database, login with email or Google, realtime channels and file storage. Releases ship as Android APKs through EAS or the Makefile.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next step is RAPTOR. MediaPipe is fast, but it is mostly two-dimensional and weak on depth and fingers. RAPTOR is a small student model that learns from a huge teacher, Meta's SAM 3D Body. From one camera frame it estimates the full 3D body, hands and fingers, and it is small enough for a phone at roughly fifty megabytes. To be honest about status: RAPTOR is still in training and is not in the app yet. It runs today in our web tracker and in the demo clips of our update video. SAM 3D Body is a model by Meta; RAPTOR is trained by the Ojas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Finish training RAPTOR and add consented and synthetic data. Then ship it inside the app, in hybrid mode behind MediaPipe, with MediaPipe as the fallback. We also keep a list of honest issues. The most important is a security hardening item: the match result function in the database needs an identity check. We also need to refresh the README and video narration, which still mention older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Ojas makes exercise measurable, social and fun, and does it privately on your own phone. RAPTOR will make it more accurate and more lifelike. Thank you. We are happy to take questions, and we can show a live duel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sp>
        <p:nvSpPr>
          <p:cNvPr id="3" name="Shape 0"/>
          <p:cNvSpPr/>
          <p:nvPr/>
        </p:nvSpPr>
        <p:spPr>
          <a:xfrm>
            <a:off x="8412480" y="822960"/>
            <a:ext cx="3840480" cy="3840480"/>
          </a:xfrm>
          <a:prstGeom prst="ellipse">
            <a:avLst/>
          </a:prstGeom>
          <a:solidFill>
            <a:srgbClr val="FF6A2B">
              <a:alpha val="22000"/>
            </a:srgbClr>
          </a:solidFill>
          <a:ln w="12700">
            <a:solidFill>
              <a:srgbClr val="FF6A2B">
                <a:alpha val="22000"/>
              </a:srgbClr>
            </a:solidFill>
            <a:prstDash val="solid"/>
          </a:ln>
        </p:spPr>
      </p:sp>
      <p:sp>
        <p:nvSpPr>
          <p:cNvPr id="4" name="Shape 1"/>
          <p:cNvSpPr/>
          <p:nvPr/>
        </p:nvSpPr>
        <p:spPr>
          <a:xfrm>
            <a:off x="9418320" y="3291840"/>
            <a:ext cx="2377440" cy="2377440"/>
          </a:xfrm>
          <a:prstGeom prst="ellipse">
            <a:avLst/>
          </a:prstGeom>
          <a:solidFill>
            <a:srgbClr val="2EC4B6">
              <a:alpha val="20000"/>
            </a:srgbClr>
          </a:solidFill>
          <a:ln w="12700">
            <a:solidFill>
              <a:srgbClr val="2EC4B6">
                <a:alpha val="20000"/>
              </a:srgbClr>
            </a:solidFill>
            <a:prstDash val="solid"/>
          </a:ln>
        </p:spPr>
      </p:sp>
      <p:sp>
        <p:nvSpPr>
          <p:cNvPr id="5" name="Text 2"/>
          <p:cNvSpPr txBox="1"/>
          <p:nvPr/>
        </p:nvSpPr>
        <p:spPr>
          <a:xfrm>
            <a:off x="731520" y="1828800"/>
            <a:ext cx="8229600" cy="1463040"/>
          </a:xfrm>
          <a:prstGeom prst="rect">
            <a:avLst/>
          </a:prstGeom>
          <a:noFill/>
          <a:ln/>
        </p:spPr>
        <p:txBody>
          <a:bodyPr wrap="square" lIns="0" tIns="0" rIns="0" bIns="0" rtlCol="0" anchor="t"/>
          <a:lstStyle/>
          <a:p>
            <a:pPr indent="0" marL="0">
              <a:buNone/>
            </a:pPr>
            <a:r>
              <a:rPr lang="en-US" sz="9600" b="1" dirty="0">
                <a:solidFill>
                  <a:srgbClr val="FFFFFF"/>
                </a:solidFill>
                <a:latin typeface="Cambria" pitchFamily="34" charset="0"/>
                <a:ea typeface="Cambria" pitchFamily="34" charset="-122"/>
                <a:cs typeface="Cambria" pitchFamily="34" charset="-120"/>
              </a:rPr>
              <a:t>OJAS</a:t>
            </a:r>
            <a:endParaRPr lang="en-US" sz="9600" dirty="0"/>
          </a:p>
        </p:txBody>
      </p:sp>
      <p:sp>
        <p:nvSpPr>
          <p:cNvPr id="6" name="Text 3"/>
          <p:cNvSpPr txBox="1"/>
          <p:nvPr/>
        </p:nvSpPr>
        <p:spPr>
          <a:xfrm>
            <a:off x="731520" y="3383280"/>
            <a:ext cx="8229600" cy="640080"/>
          </a:xfrm>
          <a:prstGeom prst="rect">
            <a:avLst/>
          </a:prstGeom>
          <a:noFill/>
          <a:ln/>
        </p:spPr>
        <p:txBody>
          <a:bodyPr wrap="square" lIns="0" tIns="0" rIns="0" bIns="0" rtlCol="0" anchor="t"/>
          <a:lstStyle/>
          <a:p>
            <a:pPr indent="0" marL="0">
              <a:buNone/>
            </a:pPr>
            <a:r>
              <a:rPr lang="en-US" sz="3000" b="1" dirty="0">
                <a:solidFill>
                  <a:srgbClr val="FF6A2B"/>
                </a:solidFill>
                <a:latin typeface="Calibri" pitchFamily="34" charset="0"/>
                <a:ea typeface="Calibri" pitchFamily="34" charset="-122"/>
                <a:cs typeface="Calibri" pitchFamily="34" charset="-120"/>
              </a:rPr>
              <a:t>AI workout and fitness battles</a:t>
            </a:r>
            <a:endParaRPr lang="en-US" sz="3000" dirty="0"/>
          </a:p>
        </p:txBody>
      </p:sp>
      <p:sp>
        <p:nvSpPr>
          <p:cNvPr id="7" name="Text 4"/>
          <p:cNvSpPr txBox="1"/>
          <p:nvPr/>
        </p:nvSpPr>
        <p:spPr>
          <a:xfrm>
            <a:off x="731520" y="4114800"/>
            <a:ext cx="7315200" cy="914400"/>
          </a:xfrm>
          <a:prstGeom prst="rect">
            <a:avLst/>
          </a:prstGeom>
          <a:noFill/>
          <a:ln/>
        </p:spPr>
        <p:txBody>
          <a:bodyPr wrap="square" lIns="0" tIns="0" rIns="0" bIns="0" rtlCol="0" anchor="t"/>
          <a:lstStyle/>
          <a:p>
            <a:pPr indent="0" marL="0">
              <a:buNone/>
            </a:pPr>
            <a:r>
              <a:rPr lang="en-US" sz="2000" dirty="0">
                <a:solidFill>
                  <a:srgbClr val="C9CCD8"/>
                </a:solidFill>
                <a:latin typeface="Calibri" pitchFamily="34" charset="0"/>
                <a:ea typeface="Calibri" pitchFamily="34" charset="-122"/>
                <a:cs typeface="Calibri" pitchFamily="34" charset="-120"/>
              </a:rPr>
              <a:t>Your phone camera counts reps, checks your form, and lets you battle friends or AI.</a:t>
            </a:r>
            <a:endParaRPr lang="en-US" sz="2000" dirty="0"/>
          </a:p>
        </p:txBody>
      </p:sp>
      <p:sp>
        <p:nvSpPr>
          <p:cNvPr id="8" name="Text 5"/>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400" dirty="0">
                <a:solidFill>
                  <a:srgbClr val="8A90A6"/>
                </a:solidFill>
                <a:latin typeface="Calibri" pitchFamily="34" charset="0"/>
                <a:ea typeface="Calibri" pitchFamily="34" charset="-122"/>
                <a:cs typeface="Calibri" pitchFamily="34" charset="-120"/>
              </a:rPr>
              <a:t>Project overview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12141C"/>
                </a:solidFill>
                <a:latin typeface="Cambria" pitchFamily="34" charset="0"/>
                <a:ea typeface="Cambria" pitchFamily="34" charset="-122"/>
                <a:cs typeface="Cambria" pitchFamily="34" charset="-120"/>
              </a:rPr>
              <a:t>A coach in your pocket, a game on your screen</a:t>
            </a:r>
            <a:endParaRPr lang="en-US" sz="3800" dirty="0"/>
          </a:p>
        </p:txBody>
      </p:sp>
      <p:sp>
        <p:nvSpPr>
          <p:cNvPr id="4" name="Shape 1"/>
          <p:cNvSpPr/>
          <p:nvPr/>
        </p:nvSpPr>
        <p:spPr>
          <a:xfrm>
            <a:off x="548640" y="1554480"/>
            <a:ext cx="2606040" cy="2286000"/>
          </a:xfrm>
          <a:prstGeom prst="roundRect">
            <a:avLst>
              <a:gd name="adj" fmla="val 4800"/>
            </a:avLst>
          </a:prstGeom>
          <a:solidFill>
            <a:srgbClr val="F3F4F7"/>
          </a:solidFill>
          <a:ln w="12700">
            <a:solidFill>
              <a:srgbClr val="F3F4F7"/>
            </a:solidFill>
            <a:prstDash val="solid"/>
          </a:ln>
        </p:spPr>
      </p:sp>
      <p:sp>
        <p:nvSpPr>
          <p:cNvPr id="5" name="Text 2"/>
          <p:cNvSpPr txBox="1"/>
          <p:nvPr/>
        </p:nvSpPr>
        <p:spPr>
          <a:xfrm>
            <a:off x="777240" y="1737360"/>
            <a:ext cx="2194560" cy="1005840"/>
          </a:xfrm>
          <a:prstGeom prst="rect">
            <a:avLst/>
          </a:prstGeom>
          <a:noFill/>
          <a:ln/>
        </p:spPr>
        <p:txBody>
          <a:bodyPr wrap="square" lIns="0" tIns="0" rIns="0" bIns="0" rtlCol="0" anchor="t"/>
          <a:lstStyle/>
          <a:p>
            <a:pPr indent="0" marL="0">
              <a:buNone/>
            </a:pPr>
            <a:r>
              <a:rPr lang="en-US" sz="5200" b="1" dirty="0">
                <a:solidFill>
                  <a:srgbClr val="FF6A2B"/>
                </a:solidFill>
                <a:latin typeface="Cambria" pitchFamily="34" charset="0"/>
                <a:ea typeface="Cambria" pitchFamily="34" charset="-122"/>
                <a:cs typeface="Cambria" pitchFamily="34" charset="-120"/>
              </a:rPr>
              <a:t>9</a:t>
            </a:r>
            <a:endParaRPr lang="en-US" sz="5200" dirty="0"/>
          </a:p>
        </p:txBody>
      </p:sp>
      <p:sp>
        <p:nvSpPr>
          <p:cNvPr id="6" name="Text 3"/>
          <p:cNvSpPr txBox="1"/>
          <p:nvPr/>
        </p:nvSpPr>
        <p:spPr>
          <a:xfrm>
            <a:off x="777240" y="2834640"/>
            <a:ext cx="2194560" cy="82296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exercises tracked by the camera</a:t>
            </a:r>
            <a:endParaRPr lang="en-US" sz="1600" dirty="0"/>
          </a:p>
        </p:txBody>
      </p:sp>
      <p:sp>
        <p:nvSpPr>
          <p:cNvPr id="7" name="Shape 4"/>
          <p:cNvSpPr/>
          <p:nvPr/>
        </p:nvSpPr>
        <p:spPr>
          <a:xfrm>
            <a:off x="3337560" y="1554480"/>
            <a:ext cx="2606040" cy="2286000"/>
          </a:xfrm>
          <a:prstGeom prst="roundRect">
            <a:avLst>
              <a:gd name="adj" fmla="val 4800"/>
            </a:avLst>
          </a:prstGeom>
          <a:solidFill>
            <a:srgbClr val="F3F4F7"/>
          </a:solidFill>
          <a:ln w="12700">
            <a:solidFill>
              <a:srgbClr val="F3F4F7"/>
            </a:solidFill>
            <a:prstDash val="solid"/>
          </a:ln>
        </p:spPr>
      </p:sp>
      <p:sp>
        <p:nvSpPr>
          <p:cNvPr id="8" name="Text 5"/>
          <p:cNvSpPr txBox="1"/>
          <p:nvPr/>
        </p:nvSpPr>
        <p:spPr>
          <a:xfrm>
            <a:off x="3566160" y="1737360"/>
            <a:ext cx="2194560" cy="1005840"/>
          </a:xfrm>
          <a:prstGeom prst="rect">
            <a:avLst/>
          </a:prstGeom>
          <a:noFill/>
          <a:ln/>
        </p:spPr>
        <p:txBody>
          <a:bodyPr wrap="square" lIns="0" tIns="0" rIns="0" bIns="0" rtlCol="0" anchor="t"/>
          <a:lstStyle/>
          <a:p>
            <a:pPr indent="0" marL="0">
              <a:buNone/>
            </a:pPr>
            <a:r>
              <a:rPr lang="en-US" sz="5200" b="1" dirty="0">
                <a:solidFill>
                  <a:srgbClr val="2EC4B6"/>
                </a:solidFill>
                <a:latin typeface="Cambria" pitchFamily="34" charset="0"/>
                <a:ea typeface="Cambria" pitchFamily="34" charset="-122"/>
                <a:cs typeface="Cambria" pitchFamily="34" charset="-120"/>
              </a:rPr>
              <a:t>120 s</a:t>
            </a:r>
            <a:endParaRPr lang="en-US" sz="5200" dirty="0"/>
          </a:p>
        </p:txBody>
      </p:sp>
      <p:sp>
        <p:nvSpPr>
          <p:cNvPr id="9" name="Text 6"/>
          <p:cNvSpPr txBox="1"/>
          <p:nvPr/>
        </p:nvSpPr>
        <p:spPr>
          <a:xfrm>
            <a:off x="3566160" y="2834640"/>
            <a:ext cx="2194560" cy="82296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duel length, after a 30 s setup</a:t>
            </a:r>
            <a:endParaRPr lang="en-US" sz="1600" dirty="0"/>
          </a:p>
        </p:txBody>
      </p:sp>
      <p:sp>
        <p:nvSpPr>
          <p:cNvPr id="10" name="Shape 7"/>
          <p:cNvSpPr/>
          <p:nvPr/>
        </p:nvSpPr>
        <p:spPr>
          <a:xfrm>
            <a:off x="6126480" y="1554480"/>
            <a:ext cx="2606040" cy="2286000"/>
          </a:xfrm>
          <a:prstGeom prst="roundRect">
            <a:avLst>
              <a:gd name="adj" fmla="val 4800"/>
            </a:avLst>
          </a:prstGeom>
          <a:solidFill>
            <a:srgbClr val="F3F4F7"/>
          </a:solidFill>
          <a:ln w="12700">
            <a:solidFill>
              <a:srgbClr val="F3F4F7"/>
            </a:solidFill>
            <a:prstDash val="solid"/>
          </a:ln>
        </p:spPr>
      </p:sp>
      <p:sp>
        <p:nvSpPr>
          <p:cNvPr id="11" name="Text 8"/>
          <p:cNvSpPr txBox="1"/>
          <p:nvPr/>
        </p:nvSpPr>
        <p:spPr>
          <a:xfrm>
            <a:off x="6355080" y="1737360"/>
            <a:ext cx="2194560" cy="1005840"/>
          </a:xfrm>
          <a:prstGeom prst="rect">
            <a:avLst/>
          </a:prstGeom>
          <a:noFill/>
          <a:ln/>
        </p:spPr>
        <p:txBody>
          <a:bodyPr wrap="square" lIns="0" tIns="0" rIns="0" bIns="0" rtlCol="0" anchor="t"/>
          <a:lstStyle/>
          <a:p>
            <a:pPr indent="0" marL="0">
              <a:buNone/>
            </a:pPr>
            <a:r>
              <a:rPr lang="en-US" sz="5200" b="1" dirty="0">
                <a:solidFill>
                  <a:srgbClr val="7C5CFF"/>
                </a:solidFill>
                <a:latin typeface="Cambria" pitchFamily="34" charset="0"/>
                <a:ea typeface="Cambria" pitchFamily="34" charset="-122"/>
                <a:cs typeface="Cambria" pitchFamily="34" charset="-120"/>
              </a:rPr>
              <a:t>10</a:t>
            </a:r>
            <a:endParaRPr lang="en-US" sz="5200" dirty="0"/>
          </a:p>
        </p:txBody>
      </p:sp>
      <p:sp>
        <p:nvSpPr>
          <p:cNvPr id="12" name="Text 9"/>
          <p:cNvSpPr txBox="1"/>
          <p:nvPr/>
        </p:nvSpPr>
        <p:spPr>
          <a:xfrm>
            <a:off x="6355080" y="2834640"/>
            <a:ext cx="2194560" cy="82296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players in a Battle Ground</a:t>
            </a:r>
            <a:endParaRPr lang="en-US" sz="1600" dirty="0"/>
          </a:p>
        </p:txBody>
      </p:sp>
      <p:sp>
        <p:nvSpPr>
          <p:cNvPr id="13" name="Shape 10"/>
          <p:cNvSpPr/>
          <p:nvPr/>
        </p:nvSpPr>
        <p:spPr>
          <a:xfrm>
            <a:off x="8915400" y="1554480"/>
            <a:ext cx="2606040" cy="2286000"/>
          </a:xfrm>
          <a:prstGeom prst="roundRect">
            <a:avLst>
              <a:gd name="adj" fmla="val 4800"/>
            </a:avLst>
          </a:prstGeom>
          <a:solidFill>
            <a:srgbClr val="F3F4F7"/>
          </a:solidFill>
          <a:ln w="12700">
            <a:solidFill>
              <a:srgbClr val="F3F4F7"/>
            </a:solidFill>
            <a:prstDash val="solid"/>
          </a:ln>
        </p:spPr>
      </p:sp>
      <p:sp>
        <p:nvSpPr>
          <p:cNvPr id="14" name="Text 11"/>
          <p:cNvSpPr txBox="1"/>
          <p:nvPr/>
        </p:nvSpPr>
        <p:spPr>
          <a:xfrm>
            <a:off x="9144000" y="1737360"/>
            <a:ext cx="2194560" cy="1005840"/>
          </a:xfrm>
          <a:prstGeom prst="rect">
            <a:avLst/>
          </a:prstGeom>
          <a:noFill/>
          <a:ln/>
        </p:spPr>
        <p:txBody>
          <a:bodyPr wrap="square" lIns="0" tIns="0" rIns="0" bIns="0" rtlCol="0" anchor="t"/>
          <a:lstStyle/>
          <a:p>
            <a:pPr indent="0" marL="0">
              <a:buNone/>
            </a:pPr>
            <a:r>
              <a:rPr lang="en-US" sz="5200" b="1" dirty="0">
                <a:solidFill>
                  <a:srgbClr val="C98A00"/>
                </a:solidFill>
                <a:latin typeface="Cambria" pitchFamily="34" charset="0"/>
                <a:ea typeface="Cambria" pitchFamily="34" charset="-122"/>
                <a:cs typeface="Cambria" pitchFamily="34" charset="-120"/>
              </a:rPr>
              <a:t>0</a:t>
            </a:r>
            <a:endParaRPr lang="en-US" sz="5200" dirty="0"/>
          </a:p>
        </p:txBody>
      </p:sp>
      <p:sp>
        <p:nvSpPr>
          <p:cNvPr id="15" name="Text 12"/>
          <p:cNvSpPr txBox="1"/>
          <p:nvPr/>
        </p:nvSpPr>
        <p:spPr>
          <a:xfrm>
            <a:off x="9144000" y="2834640"/>
            <a:ext cx="2194560" cy="82296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camera frames leave the phone</a:t>
            </a:r>
            <a:endParaRPr lang="en-US" sz="1600" dirty="0"/>
          </a:p>
        </p:txBody>
      </p:sp>
      <p:sp>
        <p:nvSpPr>
          <p:cNvPr id="16" name="Text 13"/>
          <p:cNvSpPr txBox="1"/>
          <p:nvPr/>
        </p:nvSpPr>
        <p:spPr>
          <a:xfrm>
            <a:off x="548640" y="4206240"/>
            <a:ext cx="3474720" cy="457200"/>
          </a:xfrm>
          <a:prstGeom prst="rect">
            <a:avLst/>
          </a:prstGeom>
          <a:noFill/>
          <a:ln/>
        </p:spPr>
        <p:txBody>
          <a:bodyPr wrap="square" lIns="0" tIns="0" rIns="0" bIns="0" rtlCol="0" anchor="t"/>
          <a:lstStyle/>
          <a:p>
            <a:pPr indent="0" marL="0">
              <a:buNone/>
            </a:pPr>
            <a:r>
              <a:rPr lang="en-US" sz="2400" b="1" dirty="0">
                <a:solidFill>
                  <a:srgbClr val="FF6A2B"/>
                </a:solidFill>
                <a:latin typeface="Cambria" pitchFamily="34" charset="0"/>
                <a:ea typeface="Cambria" pitchFamily="34" charset="-122"/>
                <a:cs typeface="Cambria" pitchFamily="34" charset="-120"/>
              </a:rPr>
              <a:t>Track</a:t>
            </a:r>
            <a:endParaRPr lang="en-US" sz="2400" dirty="0"/>
          </a:p>
        </p:txBody>
      </p:sp>
      <p:sp>
        <p:nvSpPr>
          <p:cNvPr id="17" name="Text 14"/>
          <p:cNvSpPr txBox="1"/>
          <p:nvPr/>
        </p:nvSpPr>
        <p:spPr>
          <a:xfrm>
            <a:off x="548640" y="4709160"/>
            <a:ext cx="3383280" cy="109728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Camera counts reps and holds, with live form tips, fully offline.</a:t>
            </a:r>
            <a:endParaRPr lang="en-US" sz="1600" dirty="0"/>
          </a:p>
        </p:txBody>
      </p:sp>
      <p:sp>
        <p:nvSpPr>
          <p:cNvPr id="18" name="Text 15"/>
          <p:cNvSpPr txBox="1"/>
          <p:nvPr/>
        </p:nvSpPr>
        <p:spPr>
          <a:xfrm>
            <a:off x="4297680" y="4206240"/>
            <a:ext cx="3474720" cy="457200"/>
          </a:xfrm>
          <a:prstGeom prst="rect">
            <a:avLst/>
          </a:prstGeom>
          <a:noFill/>
          <a:ln/>
        </p:spPr>
        <p:txBody>
          <a:bodyPr wrap="square" lIns="0" tIns="0" rIns="0" bIns="0" rtlCol="0" anchor="t"/>
          <a:lstStyle/>
          <a:p>
            <a:pPr indent="0" marL="0">
              <a:buNone/>
            </a:pPr>
            <a:r>
              <a:rPr lang="en-US" sz="2400" b="1" dirty="0">
                <a:solidFill>
                  <a:srgbClr val="FF6A2B"/>
                </a:solidFill>
                <a:latin typeface="Cambria" pitchFamily="34" charset="0"/>
                <a:ea typeface="Cambria" pitchFamily="34" charset="-122"/>
                <a:cs typeface="Cambria" pitchFamily="34" charset="-120"/>
              </a:rPr>
              <a:t>Play</a:t>
            </a:r>
            <a:endParaRPr lang="en-US" sz="2400" dirty="0"/>
          </a:p>
        </p:txBody>
      </p:sp>
      <p:sp>
        <p:nvSpPr>
          <p:cNvPr id="19" name="Text 16"/>
          <p:cNvSpPr txBox="1"/>
          <p:nvPr/>
        </p:nvSpPr>
        <p:spPr>
          <a:xfrm>
            <a:off x="4297680" y="4709160"/>
            <a:ext cx="3383280" cy="109728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XP, levels, ranks, coins, streaks, daily challenges and duels.</a:t>
            </a:r>
            <a:endParaRPr lang="en-US" sz="1600" dirty="0"/>
          </a:p>
        </p:txBody>
      </p:sp>
      <p:sp>
        <p:nvSpPr>
          <p:cNvPr id="20" name="Text 17"/>
          <p:cNvSpPr txBox="1"/>
          <p:nvPr/>
        </p:nvSpPr>
        <p:spPr>
          <a:xfrm>
            <a:off x="8046720" y="4206240"/>
            <a:ext cx="3474720" cy="457200"/>
          </a:xfrm>
          <a:prstGeom prst="rect">
            <a:avLst/>
          </a:prstGeom>
          <a:noFill/>
          <a:ln/>
        </p:spPr>
        <p:txBody>
          <a:bodyPr wrap="square" lIns="0" tIns="0" rIns="0" bIns="0" rtlCol="0" anchor="t"/>
          <a:lstStyle/>
          <a:p>
            <a:pPr indent="0" marL="0">
              <a:buNone/>
            </a:pPr>
            <a:r>
              <a:rPr lang="en-US" sz="2400" b="1" dirty="0">
                <a:solidFill>
                  <a:srgbClr val="FF6A2B"/>
                </a:solidFill>
                <a:latin typeface="Cambria" pitchFamily="34" charset="0"/>
                <a:ea typeface="Cambria" pitchFamily="34" charset="-122"/>
                <a:cs typeface="Cambria" pitchFamily="34" charset="-120"/>
              </a:rPr>
              <a:t>Care</a:t>
            </a:r>
            <a:endParaRPr lang="en-US" sz="2400" dirty="0"/>
          </a:p>
        </p:txBody>
      </p:sp>
      <p:sp>
        <p:nvSpPr>
          <p:cNvPr id="21" name="Text 18"/>
          <p:cNvSpPr txBox="1"/>
          <p:nvPr/>
        </p:nvSpPr>
        <p:spPr>
          <a:xfrm>
            <a:off x="8046720" y="4709160"/>
            <a:ext cx="3383280" cy="109728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Posture scan flags issues and recommends the right exercises.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41C"/>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How a rep gets counted</a:t>
            </a:r>
            <a:endParaRPr lang="en-US" sz="3800" dirty="0"/>
          </a:p>
        </p:txBody>
      </p:sp>
      <p:sp>
        <p:nvSpPr>
          <p:cNvPr id="4" name="Shape 1"/>
          <p:cNvSpPr/>
          <p:nvPr/>
        </p:nvSpPr>
        <p:spPr>
          <a:xfrm>
            <a:off x="548640" y="2011680"/>
            <a:ext cx="2011680" cy="2103120"/>
          </a:xfrm>
          <a:prstGeom prst="roundRect">
            <a:avLst>
              <a:gd name="adj" fmla="val 5455"/>
            </a:avLst>
          </a:prstGeom>
          <a:solidFill>
            <a:srgbClr val="1F2333"/>
          </a:solidFill>
          <a:ln w="12700">
            <a:solidFill>
              <a:srgbClr val="1F2333"/>
            </a:solidFill>
            <a:prstDash val="solid"/>
          </a:ln>
        </p:spPr>
      </p:sp>
      <p:sp>
        <p:nvSpPr>
          <p:cNvPr id="5" name="Shape 2"/>
          <p:cNvSpPr/>
          <p:nvPr/>
        </p:nvSpPr>
        <p:spPr>
          <a:xfrm>
            <a:off x="731520" y="2194560"/>
            <a:ext cx="502920" cy="502920"/>
          </a:xfrm>
          <a:prstGeom prst="ellipse">
            <a:avLst/>
          </a:prstGeom>
          <a:solidFill>
            <a:srgbClr val="FF6A2B"/>
          </a:solidFill>
          <a:ln w="12700">
            <a:solidFill>
              <a:srgbClr val="FF6A2B"/>
            </a:solidFill>
            <a:prstDash val="solid"/>
          </a:ln>
        </p:spPr>
      </p:sp>
      <p:sp>
        <p:nvSpPr>
          <p:cNvPr id="6" name="Text 3"/>
          <p:cNvSpPr txBox="1"/>
          <p:nvPr/>
        </p:nvSpPr>
        <p:spPr>
          <a:xfrm>
            <a:off x="731520" y="2194560"/>
            <a:ext cx="502920" cy="502920"/>
          </a:xfrm>
          <a:prstGeom prst="rect">
            <a:avLst/>
          </a:prstGeom>
          <a:noFill/>
          <a:ln/>
        </p:spPr>
        <p:txBody>
          <a:bodyPr wrap="square" lIns="0" tIns="0" rIns="0" bIns="0" rtlCol="0" anchor="ctr"/>
          <a:lstStyle/>
          <a:p>
            <a:pPr algn="ctr" indent="0" marL="0">
              <a:buNone/>
            </a:pPr>
            <a:r>
              <a:rPr lang="en-US" sz="1800" b="1" dirty="0">
                <a:solidFill>
                  <a:srgbClr val="12141C"/>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731520" y="2834640"/>
            <a:ext cx="169164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Camera</a:t>
            </a:r>
            <a:endParaRPr lang="en-US" sz="2000" dirty="0"/>
          </a:p>
        </p:txBody>
      </p:sp>
      <p:sp>
        <p:nvSpPr>
          <p:cNvPr id="8" name="Text 5"/>
          <p:cNvSpPr txBox="1"/>
          <p:nvPr/>
        </p:nvSpPr>
        <p:spPr>
          <a:xfrm>
            <a:off x="731520" y="3383280"/>
            <a:ext cx="1691640" cy="640080"/>
          </a:xfrm>
          <a:prstGeom prst="rect">
            <a:avLst/>
          </a:prstGeom>
          <a:noFill/>
          <a:ln/>
        </p:spPr>
        <p:txBody>
          <a:bodyPr wrap="square" lIns="0" tIns="0" rIns="0" bIns="0" rtlCol="0" anchor="t"/>
          <a:lstStyle/>
          <a:p>
            <a:pPr indent="0" marL="0">
              <a:buNone/>
            </a:pPr>
            <a:r>
              <a:rPr lang="en-US" sz="1400" dirty="0">
                <a:solidFill>
                  <a:srgbClr val="C9CCD8"/>
                </a:solidFill>
                <a:latin typeface="Calibri" pitchFamily="34" charset="0"/>
                <a:ea typeface="Calibri" pitchFamily="34" charset="-122"/>
                <a:cs typeface="Calibri" pitchFamily="34" charset="-120"/>
              </a:rPr>
              <a:t>expo-camera feed</a:t>
            </a:r>
            <a:endParaRPr lang="en-US" sz="1400" dirty="0"/>
          </a:p>
        </p:txBody>
      </p:sp>
      <p:sp>
        <p:nvSpPr>
          <p:cNvPr id="9" name="Text 6"/>
          <p:cNvSpPr txBox="1"/>
          <p:nvPr/>
        </p:nvSpPr>
        <p:spPr>
          <a:xfrm>
            <a:off x="2560320" y="2743200"/>
            <a:ext cx="274320" cy="457200"/>
          </a:xfrm>
          <a:prstGeom prst="rect">
            <a:avLst/>
          </a:prstGeom>
          <a:noFill/>
          <a:ln/>
        </p:spPr>
        <p:txBody>
          <a:bodyPr wrap="square" lIns="0" tIns="0" rIns="0" bIns="0" rtlCol="0" anchor="t"/>
          <a:lstStyle/>
          <a:p>
            <a:pPr algn="ctr" indent="0" marL="0">
              <a:buNone/>
            </a:pPr>
            <a:r>
              <a:rPr lang="en-US" sz="2400" b="1" dirty="0">
                <a:solidFill>
                  <a:srgbClr val="FF6A2B"/>
                </a:solidFill>
                <a:latin typeface="Calibri" pitchFamily="34" charset="0"/>
                <a:ea typeface="Calibri" pitchFamily="34" charset="-122"/>
                <a:cs typeface="Calibri" pitchFamily="34" charset="-120"/>
              </a:rPr>
              <a:t>&gt;</a:t>
            </a:r>
            <a:endParaRPr lang="en-US" sz="2400" dirty="0"/>
          </a:p>
        </p:txBody>
      </p:sp>
      <p:sp>
        <p:nvSpPr>
          <p:cNvPr id="10" name="Shape 7"/>
          <p:cNvSpPr/>
          <p:nvPr/>
        </p:nvSpPr>
        <p:spPr>
          <a:xfrm>
            <a:off x="2834640" y="2011680"/>
            <a:ext cx="2011680" cy="2103120"/>
          </a:xfrm>
          <a:prstGeom prst="roundRect">
            <a:avLst>
              <a:gd name="adj" fmla="val 5455"/>
            </a:avLst>
          </a:prstGeom>
          <a:solidFill>
            <a:srgbClr val="1F2333"/>
          </a:solidFill>
          <a:ln w="12700">
            <a:solidFill>
              <a:srgbClr val="1F2333"/>
            </a:solidFill>
            <a:prstDash val="solid"/>
          </a:ln>
        </p:spPr>
      </p:sp>
      <p:sp>
        <p:nvSpPr>
          <p:cNvPr id="11" name="Shape 8"/>
          <p:cNvSpPr/>
          <p:nvPr/>
        </p:nvSpPr>
        <p:spPr>
          <a:xfrm>
            <a:off x="3017520" y="2194560"/>
            <a:ext cx="502920" cy="502920"/>
          </a:xfrm>
          <a:prstGeom prst="ellipse">
            <a:avLst/>
          </a:prstGeom>
          <a:solidFill>
            <a:srgbClr val="2EC4B6"/>
          </a:solidFill>
          <a:ln w="12700">
            <a:solidFill>
              <a:srgbClr val="2EC4B6"/>
            </a:solidFill>
            <a:prstDash val="solid"/>
          </a:ln>
        </p:spPr>
      </p:sp>
      <p:sp>
        <p:nvSpPr>
          <p:cNvPr id="12" name="Text 9"/>
          <p:cNvSpPr txBox="1"/>
          <p:nvPr/>
        </p:nvSpPr>
        <p:spPr>
          <a:xfrm>
            <a:off x="3017520" y="2194560"/>
            <a:ext cx="502920" cy="502920"/>
          </a:xfrm>
          <a:prstGeom prst="rect">
            <a:avLst/>
          </a:prstGeom>
          <a:noFill/>
          <a:ln/>
        </p:spPr>
        <p:txBody>
          <a:bodyPr wrap="square" lIns="0" tIns="0" rIns="0" bIns="0" rtlCol="0" anchor="ctr"/>
          <a:lstStyle/>
          <a:p>
            <a:pPr algn="ctr" indent="0" marL="0">
              <a:buNone/>
            </a:pPr>
            <a:r>
              <a:rPr lang="en-US" sz="1800" b="1" dirty="0">
                <a:solidFill>
                  <a:srgbClr val="12141C"/>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3017520" y="2834640"/>
            <a:ext cx="169164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MediaPipe Pose</a:t>
            </a:r>
            <a:endParaRPr lang="en-US" sz="2000" dirty="0"/>
          </a:p>
        </p:txBody>
      </p:sp>
      <p:sp>
        <p:nvSpPr>
          <p:cNvPr id="14" name="Text 11"/>
          <p:cNvSpPr txBox="1"/>
          <p:nvPr/>
        </p:nvSpPr>
        <p:spPr>
          <a:xfrm>
            <a:off x="3017520" y="3383280"/>
            <a:ext cx="1691640" cy="640080"/>
          </a:xfrm>
          <a:prstGeom prst="rect">
            <a:avLst/>
          </a:prstGeom>
          <a:noFill/>
          <a:ln/>
        </p:spPr>
        <p:txBody>
          <a:bodyPr wrap="square" lIns="0" tIns="0" rIns="0" bIns="0" rtlCol="0" anchor="t"/>
          <a:lstStyle/>
          <a:p>
            <a:pPr indent="0" marL="0">
              <a:buNone/>
            </a:pPr>
            <a:r>
              <a:rPr lang="en-US" sz="1400" dirty="0">
                <a:solidFill>
                  <a:srgbClr val="C9CCD8"/>
                </a:solidFill>
                <a:latin typeface="Calibri" pitchFamily="34" charset="0"/>
                <a:ea typeface="Calibri" pitchFamily="34" charset="-122"/>
                <a:cs typeface="Calibri" pitchFamily="34" charset="-120"/>
              </a:rPr>
              <a:t>33 landmarks, on device</a:t>
            </a:r>
            <a:endParaRPr lang="en-US" sz="1400" dirty="0"/>
          </a:p>
        </p:txBody>
      </p:sp>
      <p:sp>
        <p:nvSpPr>
          <p:cNvPr id="15" name="Text 12"/>
          <p:cNvSpPr txBox="1"/>
          <p:nvPr/>
        </p:nvSpPr>
        <p:spPr>
          <a:xfrm>
            <a:off x="4846320" y="2743200"/>
            <a:ext cx="274320" cy="457200"/>
          </a:xfrm>
          <a:prstGeom prst="rect">
            <a:avLst/>
          </a:prstGeom>
          <a:noFill/>
          <a:ln/>
        </p:spPr>
        <p:txBody>
          <a:bodyPr wrap="square" lIns="0" tIns="0" rIns="0" bIns="0" rtlCol="0" anchor="t"/>
          <a:lstStyle/>
          <a:p>
            <a:pPr algn="ctr" indent="0" marL="0">
              <a:buNone/>
            </a:pPr>
            <a:r>
              <a:rPr lang="en-US" sz="2400" b="1" dirty="0">
                <a:solidFill>
                  <a:srgbClr val="FF6A2B"/>
                </a:solidFill>
                <a:latin typeface="Calibri" pitchFamily="34" charset="0"/>
                <a:ea typeface="Calibri" pitchFamily="34" charset="-122"/>
                <a:cs typeface="Calibri" pitchFamily="34" charset="-120"/>
              </a:rPr>
              <a:t>&gt;</a:t>
            </a:r>
            <a:endParaRPr lang="en-US" sz="2400" dirty="0"/>
          </a:p>
        </p:txBody>
      </p:sp>
      <p:sp>
        <p:nvSpPr>
          <p:cNvPr id="16" name="Shape 13"/>
          <p:cNvSpPr/>
          <p:nvPr/>
        </p:nvSpPr>
        <p:spPr>
          <a:xfrm>
            <a:off x="5120640" y="2011680"/>
            <a:ext cx="2011680" cy="2103120"/>
          </a:xfrm>
          <a:prstGeom prst="roundRect">
            <a:avLst>
              <a:gd name="adj" fmla="val 5455"/>
            </a:avLst>
          </a:prstGeom>
          <a:solidFill>
            <a:srgbClr val="1F2333"/>
          </a:solidFill>
          <a:ln w="12700">
            <a:solidFill>
              <a:srgbClr val="1F2333"/>
            </a:solidFill>
            <a:prstDash val="solid"/>
          </a:ln>
        </p:spPr>
      </p:sp>
      <p:sp>
        <p:nvSpPr>
          <p:cNvPr id="17" name="Shape 14"/>
          <p:cNvSpPr/>
          <p:nvPr/>
        </p:nvSpPr>
        <p:spPr>
          <a:xfrm>
            <a:off x="5303520" y="2194560"/>
            <a:ext cx="502920" cy="502920"/>
          </a:xfrm>
          <a:prstGeom prst="ellipse">
            <a:avLst/>
          </a:prstGeom>
          <a:solidFill>
            <a:srgbClr val="7C5CFF"/>
          </a:solidFill>
          <a:ln w="12700">
            <a:solidFill>
              <a:srgbClr val="7C5CFF"/>
            </a:solidFill>
            <a:prstDash val="solid"/>
          </a:ln>
        </p:spPr>
      </p:sp>
      <p:sp>
        <p:nvSpPr>
          <p:cNvPr id="18" name="Text 15"/>
          <p:cNvSpPr txBox="1"/>
          <p:nvPr/>
        </p:nvSpPr>
        <p:spPr>
          <a:xfrm>
            <a:off x="5303520" y="2194560"/>
            <a:ext cx="502920" cy="502920"/>
          </a:xfrm>
          <a:prstGeom prst="rect">
            <a:avLst/>
          </a:prstGeom>
          <a:noFill/>
          <a:ln/>
        </p:spPr>
        <p:txBody>
          <a:bodyPr wrap="square" lIns="0" tIns="0" rIns="0" bIns="0" rtlCol="0" anchor="ctr"/>
          <a:lstStyle/>
          <a:p>
            <a:pPr algn="ctr" indent="0" marL="0">
              <a:buNone/>
            </a:pPr>
            <a:r>
              <a:rPr lang="en-US" sz="1800" b="1" dirty="0">
                <a:solidFill>
                  <a:srgbClr val="12141C"/>
                </a:solidFill>
                <a:latin typeface="Calibri" pitchFamily="34" charset="0"/>
                <a:ea typeface="Calibri" pitchFamily="34" charset="-122"/>
                <a:cs typeface="Calibri" pitchFamily="34" charset="-120"/>
              </a:rPr>
              <a:t>3</a:t>
            </a:r>
            <a:endParaRPr lang="en-US" sz="1800" dirty="0"/>
          </a:p>
        </p:txBody>
      </p:sp>
      <p:sp>
        <p:nvSpPr>
          <p:cNvPr id="19" name="Text 16"/>
          <p:cNvSpPr txBox="1"/>
          <p:nvPr/>
        </p:nvSpPr>
        <p:spPr>
          <a:xfrm>
            <a:off x="5303520" y="2834640"/>
            <a:ext cx="169164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Exercise engine</a:t>
            </a:r>
            <a:endParaRPr lang="en-US" sz="2000" dirty="0"/>
          </a:p>
        </p:txBody>
      </p:sp>
      <p:sp>
        <p:nvSpPr>
          <p:cNvPr id="20" name="Text 17"/>
          <p:cNvSpPr txBox="1"/>
          <p:nvPr/>
        </p:nvSpPr>
        <p:spPr>
          <a:xfrm>
            <a:off x="5303520" y="3383280"/>
            <a:ext cx="1691640" cy="640080"/>
          </a:xfrm>
          <a:prstGeom prst="rect">
            <a:avLst/>
          </a:prstGeom>
          <a:noFill/>
          <a:ln/>
        </p:spPr>
        <p:txBody>
          <a:bodyPr wrap="square" lIns="0" tIns="0" rIns="0" bIns="0" rtlCol="0" anchor="t"/>
          <a:lstStyle/>
          <a:p>
            <a:pPr indent="0" marL="0">
              <a:buNone/>
            </a:pPr>
            <a:r>
              <a:rPr lang="en-US" sz="1400" dirty="0">
                <a:solidFill>
                  <a:srgbClr val="C9CCD8"/>
                </a:solidFill>
                <a:latin typeface="Calibri" pitchFamily="34" charset="0"/>
                <a:ea typeface="Calibri" pitchFamily="34" charset="-122"/>
                <a:cs typeface="Calibri" pitchFamily="34" charset="-120"/>
              </a:rPr>
              <a:t>joint angles, state machine</a:t>
            </a:r>
            <a:endParaRPr lang="en-US" sz="1400" dirty="0"/>
          </a:p>
        </p:txBody>
      </p:sp>
      <p:sp>
        <p:nvSpPr>
          <p:cNvPr id="21" name="Text 18"/>
          <p:cNvSpPr txBox="1"/>
          <p:nvPr/>
        </p:nvSpPr>
        <p:spPr>
          <a:xfrm>
            <a:off x="7132320" y="2743200"/>
            <a:ext cx="274320" cy="457200"/>
          </a:xfrm>
          <a:prstGeom prst="rect">
            <a:avLst/>
          </a:prstGeom>
          <a:noFill/>
          <a:ln/>
        </p:spPr>
        <p:txBody>
          <a:bodyPr wrap="square" lIns="0" tIns="0" rIns="0" bIns="0" rtlCol="0" anchor="t"/>
          <a:lstStyle/>
          <a:p>
            <a:pPr algn="ctr" indent="0" marL="0">
              <a:buNone/>
            </a:pPr>
            <a:r>
              <a:rPr lang="en-US" sz="2400" b="1" dirty="0">
                <a:solidFill>
                  <a:srgbClr val="FF6A2B"/>
                </a:solidFill>
                <a:latin typeface="Calibri" pitchFamily="34" charset="0"/>
                <a:ea typeface="Calibri" pitchFamily="34" charset="-122"/>
                <a:cs typeface="Calibri" pitchFamily="34" charset="-120"/>
              </a:rPr>
              <a:t>&gt;</a:t>
            </a:r>
            <a:endParaRPr lang="en-US" sz="2400" dirty="0"/>
          </a:p>
        </p:txBody>
      </p:sp>
      <p:sp>
        <p:nvSpPr>
          <p:cNvPr id="22" name="Shape 19"/>
          <p:cNvSpPr/>
          <p:nvPr/>
        </p:nvSpPr>
        <p:spPr>
          <a:xfrm>
            <a:off x="7406640" y="2011680"/>
            <a:ext cx="2011680" cy="2103120"/>
          </a:xfrm>
          <a:prstGeom prst="roundRect">
            <a:avLst>
              <a:gd name="adj" fmla="val 5455"/>
            </a:avLst>
          </a:prstGeom>
          <a:solidFill>
            <a:srgbClr val="1F2333"/>
          </a:solidFill>
          <a:ln w="12700">
            <a:solidFill>
              <a:srgbClr val="1F2333"/>
            </a:solidFill>
            <a:prstDash val="solid"/>
          </a:ln>
        </p:spPr>
      </p:sp>
      <p:sp>
        <p:nvSpPr>
          <p:cNvPr id="23" name="Shape 20"/>
          <p:cNvSpPr/>
          <p:nvPr/>
        </p:nvSpPr>
        <p:spPr>
          <a:xfrm>
            <a:off x="7589520" y="2194560"/>
            <a:ext cx="502920" cy="502920"/>
          </a:xfrm>
          <a:prstGeom prst="ellipse">
            <a:avLst/>
          </a:prstGeom>
          <a:solidFill>
            <a:srgbClr val="FFC247"/>
          </a:solidFill>
          <a:ln w="12700">
            <a:solidFill>
              <a:srgbClr val="FFC247"/>
            </a:solidFill>
            <a:prstDash val="solid"/>
          </a:ln>
        </p:spPr>
      </p:sp>
      <p:sp>
        <p:nvSpPr>
          <p:cNvPr id="24" name="Text 21"/>
          <p:cNvSpPr txBox="1"/>
          <p:nvPr/>
        </p:nvSpPr>
        <p:spPr>
          <a:xfrm>
            <a:off x="7589520" y="2194560"/>
            <a:ext cx="502920" cy="502920"/>
          </a:xfrm>
          <a:prstGeom prst="rect">
            <a:avLst/>
          </a:prstGeom>
          <a:noFill/>
          <a:ln/>
        </p:spPr>
        <p:txBody>
          <a:bodyPr wrap="square" lIns="0" tIns="0" rIns="0" bIns="0" rtlCol="0" anchor="ctr"/>
          <a:lstStyle/>
          <a:p>
            <a:pPr algn="ctr" indent="0" marL="0">
              <a:buNone/>
            </a:pPr>
            <a:r>
              <a:rPr lang="en-US" sz="1800" b="1" dirty="0">
                <a:solidFill>
                  <a:srgbClr val="12141C"/>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7589520" y="2834640"/>
            <a:ext cx="169164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HUD</a:t>
            </a:r>
            <a:endParaRPr lang="en-US" sz="2000" dirty="0"/>
          </a:p>
        </p:txBody>
      </p:sp>
      <p:sp>
        <p:nvSpPr>
          <p:cNvPr id="26" name="Text 23"/>
          <p:cNvSpPr txBox="1"/>
          <p:nvPr/>
        </p:nvSpPr>
        <p:spPr>
          <a:xfrm>
            <a:off x="7589520" y="3383280"/>
            <a:ext cx="1691640" cy="640080"/>
          </a:xfrm>
          <a:prstGeom prst="rect">
            <a:avLst/>
          </a:prstGeom>
          <a:noFill/>
          <a:ln/>
        </p:spPr>
        <p:txBody>
          <a:bodyPr wrap="square" lIns="0" tIns="0" rIns="0" bIns="0" rtlCol="0" anchor="t"/>
          <a:lstStyle/>
          <a:p>
            <a:pPr indent="0" marL="0">
              <a:buNone/>
            </a:pPr>
            <a:r>
              <a:rPr lang="en-US" sz="1400" dirty="0">
                <a:solidFill>
                  <a:srgbClr val="C9CCD8"/>
                </a:solidFill>
                <a:latin typeface="Calibri" pitchFamily="34" charset="0"/>
                <a:ea typeface="Calibri" pitchFamily="34" charset="-122"/>
                <a:cs typeface="Calibri" pitchFamily="34" charset="-120"/>
              </a:rPr>
              <a:t>reps, hold time, form tips</a:t>
            </a:r>
            <a:endParaRPr lang="en-US" sz="1400" dirty="0"/>
          </a:p>
        </p:txBody>
      </p:sp>
      <p:sp>
        <p:nvSpPr>
          <p:cNvPr id="27" name="Text 24"/>
          <p:cNvSpPr txBox="1"/>
          <p:nvPr/>
        </p:nvSpPr>
        <p:spPr>
          <a:xfrm>
            <a:off x="9418320" y="2743200"/>
            <a:ext cx="274320" cy="457200"/>
          </a:xfrm>
          <a:prstGeom prst="rect">
            <a:avLst/>
          </a:prstGeom>
          <a:noFill/>
          <a:ln/>
        </p:spPr>
        <p:txBody>
          <a:bodyPr wrap="square" lIns="0" tIns="0" rIns="0" bIns="0" rtlCol="0" anchor="t"/>
          <a:lstStyle/>
          <a:p>
            <a:pPr algn="ctr" indent="0" marL="0">
              <a:buNone/>
            </a:pPr>
            <a:r>
              <a:rPr lang="en-US" sz="2400" b="1" dirty="0">
                <a:solidFill>
                  <a:srgbClr val="FF6A2B"/>
                </a:solidFill>
                <a:latin typeface="Calibri" pitchFamily="34" charset="0"/>
                <a:ea typeface="Calibri" pitchFamily="34" charset="-122"/>
                <a:cs typeface="Calibri" pitchFamily="34" charset="-120"/>
              </a:rPr>
              <a:t>&gt;</a:t>
            </a:r>
            <a:endParaRPr lang="en-US" sz="2400" dirty="0"/>
          </a:p>
        </p:txBody>
      </p:sp>
      <p:sp>
        <p:nvSpPr>
          <p:cNvPr id="28" name="Shape 25"/>
          <p:cNvSpPr/>
          <p:nvPr/>
        </p:nvSpPr>
        <p:spPr>
          <a:xfrm>
            <a:off x="9692640" y="2011680"/>
            <a:ext cx="2011680" cy="2103120"/>
          </a:xfrm>
          <a:prstGeom prst="roundRect">
            <a:avLst>
              <a:gd name="adj" fmla="val 5455"/>
            </a:avLst>
          </a:prstGeom>
          <a:solidFill>
            <a:srgbClr val="1F2333"/>
          </a:solidFill>
          <a:ln w="12700">
            <a:solidFill>
              <a:srgbClr val="1F2333"/>
            </a:solidFill>
            <a:prstDash val="solid"/>
          </a:ln>
        </p:spPr>
      </p:sp>
      <p:sp>
        <p:nvSpPr>
          <p:cNvPr id="29" name="Shape 26"/>
          <p:cNvSpPr/>
          <p:nvPr/>
        </p:nvSpPr>
        <p:spPr>
          <a:xfrm>
            <a:off x="9875520" y="2194560"/>
            <a:ext cx="502920" cy="502920"/>
          </a:xfrm>
          <a:prstGeom prst="ellipse">
            <a:avLst/>
          </a:prstGeom>
          <a:solidFill>
            <a:srgbClr val="FF6A2B"/>
          </a:solidFill>
          <a:ln w="12700">
            <a:solidFill>
              <a:srgbClr val="FF6A2B"/>
            </a:solidFill>
            <a:prstDash val="solid"/>
          </a:ln>
        </p:spPr>
      </p:sp>
      <p:sp>
        <p:nvSpPr>
          <p:cNvPr id="30" name="Text 27"/>
          <p:cNvSpPr txBox="1"/>
          <p:nvPr/>
        </p:nvSpPr>
        <p:spPr>
          <a:xfrm>
            <a:off x="9875520" y="2194560"/>
            <a:ext cx="502920" cy="502920"/>
          </a:xfrm>
          <a:prstGeom prst="rect">
            <a:avLst/>
          </a:prstGeom>
          <a:noFill/>
          <a:ln/>
        </p:spPr>
        <p:txBody>
          <a:bodyPr wrap="square" lIns="0" tIns="0" rIns="0" bIns="0" rtlCol="0" anchor="ctr"/>
          <a:lstStyle/>
          <a:p>
            <a:pPr algn="ctr" indent="0" marL="0">
              <a:buNone/>
            </a:pPr>
            <a:r>
              <a:rPr lang="en-US" sz="1800" b="1" dirty="0">
                <a:solidFill>
                  <a:srgbClr val="12141C"/>
                </a:solidFill>
                <a:latin typeface="Calibri" pitchFamily="34" charset="0"/>
                <a:ea typeface="Calibri" pitchFamily="34" charset="-122"/>
                <a:cs typeface="Calibri" pitchFamily="34" charset="-120"/>
              </a:rPr>
              <a:t>5</a:t>
            </a:r>
            <a:endParaRPr lang="en-US" sz="1800" dirty="0"/>
          </a:p>
        </p:txBody>
      </p:sp>
      <p:sp>
        <p:nvSpPr>
          <p:cNvPr id="31" name="Text 28"/>
          <p:cNvSpPr txBox="1"/>
          <p:nvPr/>
        </p:nvSpPr>
        <p:spPr>
          <a:xfrm>
            <a:off x="9875520" y="2834640"/>
            <a:ext cx="169164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Supabase</a:t>
            </a:r>
            <a:endParaRPr lang="en-US" sz="2000" dirty="0"/>
          </a:p>
        </p:txBody>
      </p:sp>
      <p:sp>
        <p:nvSpPr>
          <p:cNvPr id="32" name="Text 29"/>
          <p:cNvSpPr txBox="1"/>
          <p:nvPr/>
        </p:nvSpPr>
        <p:spPr>
          <a:xfrm>
            <a:off x="9875520" y="3383280"/>
            <a:ext cx="1691640" cy="640080"/>
          </a:xfrm>
          <a:prstGeom prst="rect">
            <a:avLst/>
          </a:prstGeom>
          <a:noFill/>
          <a:ln/>
        </p:spPr>
        <p:txBody>
          <a:bodyPr wrap="square" lIns="0" tIns="0" rIns="0" bIns="0" rtlCol="0" anchor="t"/>
          <a:lstStyle/>
          <a:p>
            <a:pPr indent="0" marL="0">
              <a:buNone/>
            </a:pPr>
            <a:r>
              <a:rPr lang="en-US" sz="1400" dirty="0">
                <a:solidFill>
                  <a:srgbClr val="C9CCD8"/>
                </a:solidFill>
                <a:latin typeface="Calibri" pitchFamily="34" charset="0"/>
                <a:ea typeface="Calibri" pitchFamily="34" charset="-122"/>
                <a:cs typeface="Calibri" pitchFamily="34" charset="-120"/>
              </a:rPr>
              <a:t>XP, points, streaks</a:t>
            </a:r>
            <a:endParaRPr lang="en-US" sz="1400" dirty="0"/>
          </a:p>
        </p:txBody>
      </p:sp>
      <p:sp>
        <p:nvSpPr>
          <p:cNvPr id="33" name="Text 30"/>
          <p:cNvSpPr txBox="1"/>
          <p:nvPr/>
        </p:nvSpPr>
        <p:spPr>
          <a:xfrm>
            <a:off x="548640" y="4754880"/>
            <a:ext cx="10972800" cy="457200"/>
          </a:xfrm>
          <a:prstGeom prst="rect">
            <a:avLst/>
          </a:prstGeom>
          <a:noFill/>
          <a:ln/>
        </p:spPr>
        <p:txBody>
          <a:bodyPr wrap="square" lIns="0" tIns="0" rIns="0" bIns="0" rtlCol="0" anchor="t"/>
          <a:lstStyle/>
          <a:p>
            <a:pPr indent="0" marL="0">
              <a:buNone/>
            </a:pPr>
            <a:r>
              <a:rPr lang="en-US" sz="1800" dirty="0">
                <a:solidFill>
                  <a:srgbClr val="C9CCD8"/>
                </a:solidFill>
                <a:latin typeface="Calibri" pitchFamily="34" charset="0"/>
                <a:ea typeface="Calibri" pitchFamily="34" charset="-122"/>
                <a:cs typeface="Calibri" pitchFamily="34" charset="-120"/>
              </a:rPr>
              <a:t>Below 40% body visibility nothing counts, so you cannot cheat by hiding half of yourself.</a:t>
            </a:r>
            <a:endParaRPr lang="en-US" sz="1800" dirty="0"/>
          </a:p>
        </p:txBody>
      </p:sp>
      <p:sp>
        <p:nvSpPr>
          <p:cNvPr id="34" name="Text 31"/>
          <p:cNvSpPr txBox="1"/>
          <p:nvPr/>
        </p:nvSpPr>
        <p:spPr>
          <a:xfrm>
            <a:off x="548640" y="5303520"/>
            <a:ext cx="10972800" cy="457200"/>
          </a:xfrm>
          <a:prstGeom prst="rect">
            <a:avLst/>
          </a:prstGeom>
          <a:noFill/>
          <a:ln/>
        </p:spPr>
        <p:txBody>
          <a:bodyPr wrap="square" lIns="0" tIns="0" rIns="0" bIns="0" rtlCol="0" anchor="t"/>
          <a:lstStyle/>
          <a:p>
            <a:pPr indent="0" marL="0">
              <a:buNone/>
            </a:pPr>
            <a:r>
              <a:rPr lang="en-US" sz="1800" b="1" dirty="0">
                <a:solidFill>
                  <a:srgbClr val="2EC4B6"/>
                </a:solidFill>
                <a:latin typeface="Calibri" pitchFamily="34" charset="0"/>
                <a:ea typeface="Calibri" pitchFamily="34" charset="-122"/>
                <a:cs typeface="Calibri" pitchFamily="34" charset="-120"/>
              </a:rPr>
              <a:t>Squat example: bottom at knee angle 100 degrees or less, top at 155 or more.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12141C"/>
                </a:solidFill>
                <a:latin typeface="Cambria" pitchFamily="34" charset="0"/>
                <a:ea typeface="Cambria" pitchFamily="34" charset="-122"/>
                <a:cs typeface="Cambria" pitchFamily="34" charset="-120"/>
              </a:rPr>
              <a:t>Nine exercises, each with its own rules</a:t>
            </a:r>
            <a:endParaRPr lang="en-US" sz="3800" dirty="0"/>
          </a:p>
        </p:txBody>
      </p:sp>
      <p:sp>
        <p:nvSpPr>
          <p:cNvPr id="4" name="Shape 1"/>
          <p:cNvSpPr/>
          <p:nvPr/>
        </p:nvSpPr>
        <p:spPr>
          <a:xfrm>
            <a:off x="548640" y="1554480"/>
            <a:ext cx="3566160" cy="1325880"/>
          </a:xfrm>
          <a:prstGeom prst="roundRect">
            <a:avLst>
              <a:gd name="adj" fmla="val 8276"/>
            </a:avLst>
          </a:prstGeom>
          <a:solidFill>
            <a:srgbClr val="F3F4F7"/>
          </a:solidFill>
          <a:ln w="12700">
            <a:solidFill>
              <a:srgbClr val="F3F4F7"/>
            </a:solidFill>
            <a:prstDash val="solid"/>
          </a:ln>
        </p:spPr>
      </p:sp>
      <p:sp>
        <p:nvSpPr>
          <p:cNvPr id="5" name="Shape 2"/>
          <p:cNvSpPr/>
          <p:nvPr/>
        </p:nvSpPr>
        <p:spPr>
          <a:xfrm>
            <a:off x="777240" y="1874520"/>
            <a:ext cx="685800" cy="685800"/>
          </a:xfrm>
          <a:prstGeom prst="ellipse">
            <a:avLst/>
          </a:prstGeom>
          <a:solidFill>
            <a:srgbClr val="FF6A2B"/>
          </a:solidFill>
          <a:ln w="12700">
            <a:solidFill>
              <a:srgbClr val="FF6A2B"/>
            </a:solidFill>
            <a:prstDash val="solid"/>
          </a:ln>
        </p:spPr>
      </p:sp>
      <p:sp>
        <p:nvSpPr>
          <p:cNvPr id="6" name="Text 3"/>
          <p:cNvSpPr txBox="1"/>
          <p:nvPr/>
        </p:nvSpPr>
        <p:spPr>
          <a:xfrm>
            <a:off x="777240" y="18745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4"/>
          <p:cNvSpPr txBox="1"/>
          <p:nvPr/>
        </p:nvSpPr>
        <p:spPr>
          <a:xfrm>
            <a:off x="1645920" y="182880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Squats</a:t>
            </a:r>
            <a:endParaRPr lang="en-US" sz="2200" dirty="0"/>
          </a:p>
        </p:txBody>
      </p:sp>
      <p:sp>
        <p:nvSpPr>
          <p:cNvPr id="8" name="Text 5"/>
          <p:cNvSpPr txBox="1"/>
          <p:nvPr/>
        </p:nvSpPr>
        <p:spPr>
          <a:xfrm>
            <a:off x="1645920" y="233172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Reps</a:t>
            </a:r>
            <a:endParaRPr lang="en-US" sz="1400" dirty="0"/>
          </a:p>
        </p:txBody>
      </p:sp>
      <p:sp>
        <p:nvSpPr>
          <p:cNvPr id="9" name="Shape 6"/>
          <p:cNvSpPr/>
          <p:nvPr/>
        </p:nvSpPr>
        <p:spPr>
          <a:xfrm>
            <a:off x="4297680" y="1554480"/>
            <a:ext cx="3566160" cy="1325880"/>
          </a:xfrm>
          <a:prstGeom prst="roundRect">
            <a:avLst>
              <a:gd name="adj" fmla="val 8276"/>
            </a:avLst>
          </a:prstGeom>
          <a:solidFill>
            <a:srgbClr val="F3F4F7"/>
          </a:solidFill>
          <a:ln w="12700">
            <a:solidFill>
              <a:srgbClr val="F3F4F7"/>
            </a:solidFill>
            <a:prstDash val="solid"/>
          </a:ln>
        </p:spPr>
      </p:sp>
      <p:sp>
        <p:nvSpPr>
          <p:cNvPr id="10" name="Shape 7"/>
          <p:cNvSpPr/>
          <p:nvPr/>
        </p:nvSpPr>
        <p:spPr>
          <a:xfrm>
            <a:off x="4526280" y="1874520"/>
            <a:ext cx="685800" cy="685800"/>
          </a:xfrm>
          <a:prstGeom prst="ellipse">
            <a:avLst/>
          </a:prstGeom>
          <a:solidFill>
            <a:srgbClr val="FF6A2B"/>
          </a:solidFill>
          <a:ln w="12700">
            <a:solidFill>
              <a:srgbClr val="FF6A2B"/>
            </a:solidFill>
            <a:prstDash val="solid"/>
          </a:ln>
        </p:spPr>
      </p:sp>
      <p:sp>
        <p:nvSpPr>
          <p:cNvPr id="11" name="Text 8"/>
          <p:cNvSpPr txBox="1"/>
          <p:nvPr/>
        </p:nvSpPr>
        <p:spPr>
          <a:xfrm>
            <a:off x="4526280" y="18745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9"/>
          <p:cNvSpPr txBox="1"/>
          <p:nvPr/>
        </p:nvSpPr>
        <p:spPr>
          <a:xfrm>
            <a:off x="5394960" y="182880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Sit-ups</a:t>
            </a:r>
            <a:endParaRPr lang="en-US" sz="2200" dirty="0"/>
          </a:p>
        </p:txBody>
      </p:sp>
      <p:sp>
        <p:nvSpPr>
          <p:cNvPr id="13" name="Text 10"/>
          <p:cNvSpPr txBox="1"/>
          <p:nvPr/>
        </p:nvSpPr>
        <p:spPr>
          <a:xfrm>
            <a:off x="5394960" y="233172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Reps</a:t>
            </a:r>
            <a:endParaRPr lang="en-US" sz="1400" dirty="0"/>
          </a:p>
        </p:txBody>
      </p:sp>
      <p:sp>
        <p:nvSpPr>
          <p:cNvPr id="14" name="Shape 11"/>
          <p:cNvSpPr/>
          <p:nvPr/>
        </p:nvSpPr>
        <p:spPr>
          <a:xfrm>
            <a:off x="8046720" y="1554480"/>
            <a:ext cx="3566160" cy="1325880"/>
          </a:xfrm>
          <a:prstGeom prst="roundRect">
            <a:avLst>
              <a:gd name="adj" fmla="val 8276"/>
            </a:avLst>
          </a:prstGeom>
          <a:solidFill>
            <a:srgbClr val="F3F4F7"/>
          </a:solidFill>
          <a:ln w="12700">
            <a:solidFill>
              <a:srgbClr val="F3F4F7"/>
            </a:solidFill>
            <a:prstDash val="solid"/>
          </a:ln>
        </p:spPr>
      </p:sp>
      <p:sp>
        <p:nvSpPr>
          <p:cNvPr id="15" name="Shape 12"/>
          <p:cNvSpPr/>
          <p:nvPr/>
        </p:nvSpPr>
        <p:spPr>
          <a:xfrm>
            <a:off x="8275320" y="1874520"/>
            <a:ext cx="685800" cy="685800"/>
          </a:xfrm>
          <a:prstGeom prst="ellipse">
            <a:avLst/>
          </a:prstGeom>
          <a:solidFill>
            <a:srgbClr val="FF6A2B"/>
          </a:solidFill>
          <a:ln w="12700">
            <a:solidFill>
              <a:srgbClr val="FF6A2B"/>
            </a:solidFill>
            <a:prstDash val="solid"/>
          </a:ln>
        </p:spPr>
      </p:sp>
      <p:sp>
        <p:nvSpPr>
          <p:cNvPr id="16" name="Text 13"/>
          <p:cNvSpPr txBox="1"/>
          <p:nvPr/>
        </p:nvSpPr>
        <p:spPr>
          <a:xfrm>
            <a:off x="8275320" y="18745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4"/>
          <p:cNvSpPr txBox="1"/>
          <p:nvPr/>
        </p:nvSpPr>
        <p:spPr>
          <a:xfrm>
            <a:off x="9144000" y="182880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Lunges</a:t>
            </a:r>
            <a:endParaRPr lang="en-US" sz="2200" dirty="0"/>
          </a:p>
        </p:txBody>
      </p:sp>
      <p:sp>
        <p:nvSpPr>
          <p:cNvPr id="18" name="Text 15"/>
          <p:cNvSpPr txBox="1"/>
          <p:nvPr/>
        </p:nvSpPr>
        <p:spPr>
          <a:xfrm>
            <a:off x="9144000" y="233172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Reps</a:t>
            </a:r>
            <a:endParaRPr lang="en-US" sz="1400" dirty="0"/>
          </a:p>
        </p:txBody>
      </p:sp>
      <p:sp>
        <p:nvSpPr>
          <p:cNvPr id="19" name="Shape 16"/>
          <p:cNvSpPr/>
          <p:nvPr/>
        </p:nvSpPr>
        <p:spPr>
          <a:xfrm>
            <a:off x="548640" y="3063240"/>
            <a:ext cx="3566160" cy="1325880"/>
          </a:xfrm>
          <a:prstGeom prst="roundRect">
            <a:avLst>
              <a:gd name="adj" fmla="val 8276"/>
            </a:avLst>
          </a:prstGeom>
          <a:solidFill>
            <a:srgbClr val="F3F4F7"/>
          </a:solidFill>
          <a:ln w="12700">
            <a:solidFill>
              <a:srgbClr val="F3F4F7"/>
            </a:solidFill>
            <a:prstDash val="solid"/>
          </a:ln>
        </p:spPr>
      </p:sp>
      <p:sp>
        <p:nvSpPr>
          <p:cNvPr id="20" name="Shape 17"/>
          <p:cNvSpPr/>
          <p:nvPr/>
        </p:nvSpPr>
        <p:spPr>
          <a:xfrm>
            <a:off x="777240" y="3383280"/>
            <a:ext cx="685800" cy="685800"/>
          </a:xfrm>
          <a:prstGeom prst="ellipse">
            <a:avLst/>
          </a:prstGeom>
          <a:solidFill>
            <a:srgbClr val="FF6A2B"/>
          </a:solidFill>
          <a:ln w="12700">
            <a:solidFill>
              <a:srgbClr val="FF6A2B"/>
            </a:solidFill>
            <a:prstDash val="solid"/>
          </a:ln>
        </p:spPr>
      </p:sp>
      <p:sp>
        <p:nvSpPr>
          <p:cNvPr id="21" name="Text 18"/>
          <p:cNvSpPr txBox="1"/>
          <p:nvPr/>
        </p:nvSpPr>
        <p:spPr>
          <a:xfrm>
            <a:off x="777240" y="33832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19"/>
          <p:cNvSpPr txBox="1"/>
          <p:nvPr/>
        </p:nvSpPr>
        <p:spPr>
          <a:xfrm>
            <a:off x="1645920" y="333756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Crunches</a:t>
            </a:r>
            <a:endParaRPr lang="en-US" sz="2200" dirty="0"/>
          </a:p>
        </p:txBody>
      </p:sp>
      <p:sp>
        <p:nvSpPr>
          <p:cNvPr id="23" name="Text 20"/>
          <p:cNvSpPr txBox="1"/>
          <p:nvPr/>
        </p:nvSpPr>
        <p:spPr>
          <a:xfrm>
            <a:off x="1645920" y="384048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Reps</a:t>
            </a:r>
            <a:endParaRPr lang="en-US" sz="1400" dirty="0"/>
          </a:p>
        </p:txBody>
      </p:sp>
      <p:sp>
        <p:nvSpPr>
          <p:cNvPr id="24" name="Shape 21"/>
          <p:cNvSpPr/>
          <p:nvPr/>
        </p:nvSpPr>
        <p:spPr>
          <a:xfrm>
            <a:off x="4297680" y="3063240"/>
            <a:ext cx="3566160" cy="1325880"/>
          </a:xfrm>
          <a:prstGeom prst="roundRect">
            <a:avLst>
              <a:gd name="adj" fmla="val 8276"/>
            </a:avLst>
          </a:prstGeom>
          <a:solidFill>
            <a:srgbClr val="F3F4F7"/>
          </a:solidFill>
          <a:ln w="12700">
            <a:solidFill>
              <a:srgbClr val="F3F4F7"/>
            </a:solidFill>
            <a:prstDash val="solid"/>
          </a:ln>
        </p:spPr>
      </p:sp>
      <p:sp>
        <p:nvSpPr>
          <p:cNvPr id="25" name="Shape 22"/>
          <p:cNvSpPr/>
          <p:nvPr/>
        </p:nvSpPr>
        <p:spPr>
          <a:xfrm>
            <a:off x="4526280" y="3383280"/>
            <a:ext cx="685800" cy="685800"/>
          </a:xfrm>
          <a:prstGeom prst="ellipse">
            <a:avLst/>
          </a:prstGeom>
          <a:solidFill>
            <a:srgbClr val="FF6A2B"/>
          </a:solidFill>
          <a:ln w="12700">
            <a:solidFill>
              <a:srgbClr val="FF6A2B"/>
            </a:solidFill>
            <a:prstDash val="solid"/>
          </a:ln>
        </p:spPr>
      </p:sp>
      <p:sp>
        <p:nvSpPr>
          <p:cNvPr id="26" name="Text 23"/>
          <p:cNvSpPr txBox="1"/>
          <p:nvPr/>
        </p:nvSpPr>
        <p:spPr>
          <a:xfrm>
            <a:off x="4526280" y="33832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4"/>
          <p:cNvSpPr txBox="1"/>
          <p:nvPr/>
        </p:nvSpPr>
        <p:spPr>
          <a:xfrm>
            <a:off x="5394960" y="333756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Push-ups</a:t>
            </a:r>
            <a:endParaRPr lang="en-US" sz="2200" dirty="0"/>
          </a:p>
        </p:txBody>
      </p:sp>
      <p:sp>
        <p:nvSpPr>
          <p:cNvPr id="28" name="Text 25"/>
          <p:cNvSpPr txBox="1"/>
          <p:nvPr/>
        </p:nvSpPr>
        <p:spPr>
          <a:xfrm>
            <a:off x="5394960" y="384048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Reps</a:t>
            </a:r>
            <a:endParaRPr lang="en-US" sz="1400" dirty="0"/>
          </a:p>
        </p:txBody>
      </p:sp>
      <p:sp>
        <p:nvSpPr>
          <p:cNvPr id="29" name="Shape 26"/>
          <p:cNvSpPr/>
          <p:nvPr/>
        </p:nvSpPr>
        <p:spPr>
          <a:xfrm>
            <a:off x="8046720" y="3063240"/>
            <a:ext cx="3566160" cy="1325880"/>
          </a:xfrm>
          <a:prstGeom prst="roundRect">
            <a:avLst>
              <a:gd name="adj" fmla="val 8276"/>
            </a:avLst>
          </a:prstGeom>
          <a:solidFill>
            <a:srgbClr val="F3F4F7"/>
          </a:solidFill>
          <a:ln w="12700">
            <a:solidFill>
              <a:srgbClr val="F3F4F7"/>
            </a:solidFill>
            <a:prstDash val="solid"/>
          </a:ln>
        </p:spPr>
      </p:sp>
      <p:sp>
        <p:nvSpPr>
          <p:cNvPr id="30" name="Shape 27"/>
          <p:cNvSpPr/>
          <p:nvPr/>
        </p:nvSpPr>
        <p:spPr>
          <a:xfrm>
            <a:off x="8275320" y="3383280"/>
            <a:ext cx="685800" cy="685800"/>
          </a:xfrm>
          <a:prstGeom prst="ellipse">
            <a:avLst/>
          </a:prstGeom>
          <a:solidFill>
            <a:srgbClr val="2EC4B6"/>
          </a:solidFill>
          <a:ln w="12700">
            <a:solidFill>
              <a:srgbClr val="2EC4B6"/>
            </a:solidFill>
            <a:prstDash val="solid"/>
          </a:ln>
        </p:spPr>
      </p:sp>
      <p:sp>
        <p:nvSpPr>
          <p:cNvPr id="31" name="Text 28"/>
          <p:cNvSpPr txBox="1"/>
          <p:nvPr/>
        </p:nvSpPr>
        <p:spPr>
          <a:xfrm>
            <a:off x="8275320" y="33832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2" name="Text 29"/>
          <p:cNvSpPr txBox="1"/>
          <p:nvPr/>
        </p:nvSpPr>
        <p:spPr>
          <a:xfrm>
            <a:off x="9144000" y="333756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Triangle Pose</a:t>
            </a:r>
            <a:endParaRPr lang="en-US" sz="2200" dirty="0"/>
          </a:p>
        </p:txBody>
      </p:sp>
      <p:sp>
        <p:nvSpPr>
          <p:cNvPr id="33" name="Text 30"/>
          <p:cNvSpPr txBox="1"/>
          <p:nvPr/>
        </p:nvSpPr>
        <p:spPr>
          <a:xfrm>
            <a:off x="9144000" y="384048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1 point per 3 s hold</a:t>
            </a:r>
            <a:endParaRPr lang="en-US" sz="1400" dirty="0"/>
          </a:p>
        </p:txBody>
      </p:sp>
      <p:sp>
        <p:nvSpPr>
          <p:cNvPr id="34" name="Shape 31"/>
          <p:cNvSpPr/>
          <p:nvPr/>
        </p:nvSpPr>
        <p:spPr>
          <a:xfrm>
            <a:off x="548640" y="4572000"/>
            <a:ext cx="3566160" cy="1325880"/>
          </a:xfrm>
          <a:prstGeom prst="roundRect">
            <a:avLst>
              <a:gd name="adj" fmla="val 8276"/>
            </a:avLst>
          </a:prstGeom>
          <a:solidFill>
            <a:srgbClr val="F3F4F7"/>
          </a:solidFill>
          <a:ln w="12700">
            <a:solidFill>
              <a:srgbClr val="F3F4F7"/>
            </a:solidFill>
            <a:prstDash val="solid"/>
          </a:ln>
        </p:spPr>
      </p:sp>
      <p:sp>
        <p:nvSpPr>
          <p:cNvPr id="35" name="Shape 32"/>
          <p:cNvSpPr/>
          <p:nvPr/>
        </p:nvSpPr>
        <p:spPr>
          <a:xfrm>
            <a:off x="777240" y="4892040"/>
            <a:ext cx="685800" cy="685800"/>
          </a:xfrm>
          <a:prstGeom prst="ellipse">
            <a:avLst/>
          </a:prstGeom>
          <a:solidFill>
            <a:srgbClr val="2EC4B6"/>
          </a:solidFill>
          <a:ln w="12700">
            <a:solidFill>
              <a:srgbClr val="2EC4B6"/>
            </a:solidFill>
            <a:prstDash val="solid"/>
          </a:ln>
        </p:spPr>
      </p:sp>
      <p:sp>
        <p:nvSpPr>
          <p:cNvPr id="36" name="Text 33"/>
          <p:cNvSpPr txBox="1"/>
          <p:nvPr/>
        </p:nvSpPr>
        <p:spPr>
          <a:xfrm>
            <a:off x="777240" y="489204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37" name="Text 34"/>
          <p:cNvSpPr txBox="1"/>
          <p:nvPr/>
        </p:nvSpPr>
        <p:spPr>
          <a:xfrm>
            <a:off x="1645920" y="484632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Cobra Pose</a:t>
            </a:r>
            <a:endParaRPr lang="en-US" sz="2200" dirty="0"/>
          </a:p>
        </p:txBody>
      </p:sp>
      <p:sp>
        <p:nvSpPr>
          <p:cNvPr id="38" name="Text 35"/>
          <p:cNvSpPr txBox="1"/>
          <p:nvPr/>
        </p:nvSpPr>
        <p:spPr>
          <a:xfrm>
            <a:off x="1645920" y="534924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1 point per 3 s hold</a:t>
            </a:r>
            <a:endParaRPr lang="en-US" sz="1400" dirty="0"/>
          </a:p>
        </p:txBody>
      </p:sp>
      <p:sp>
        <p:nvSpPr>
          <p:cNvPr id="39" name="Shape 36"/>
          <p:cNvSpPr/>
          <p:nvPr/>
        </p:nvSpPr>
        <p:spPr>
          <a:xfrm>
            <a:off x="4297680" y="4572000"/>
            <a:ext cx="3566160" cy="1325880"/>
          </a:xfrm>
          <a:prstGeom prst="roundRect">
            <a:avLst>
              <a:gd name="adj" fmla="val 8276"/>
            </a:avLst>
          </a:prstGeom>
          <a:solidFill>
            <a:srgbClr val="F3F4F7"/>
          </a:solidFill>
          <a:ln w="12700">
            <a:solidFill>
              <a:srgbClr val="F3F4F7"/>
            </a:solidFill>
            <a:prstDash val="solid"/>
          </a:ln>
        </p:spPr>
      </p:sp>
      <p:sp>
        <p:nvSpPr>
          <p:cNvPr id="40" name="Shape 37"/>
          <p:cNvSpPr/>
          <p:nvPr/>
        </p:nvSpPr>
        <p:spPr>
          <a:xfrm>
            <a:off x="4526280" y="4892040"/>
            <a:ext cx="685800" cy="685800"/>
          </a:xfrm>
          <a:prstGeom prst="ellipse">
            <a:avLst/>
          </a:prstGeom>
          <a:solidFill>
            <a:srgbClr val="2EC4B6"/>
          </a:solidFill>
          <a:ln w="12700">
            <a:solidFill>
              <a:srgbClr val="2EC4B6"/>
            </a:solidFill>
            <a:prstDash val="solid"/>
          </a:ln>
        </p:spPr>
      </p:sp>
      <p:sp>
        <p:nvSpPr>
          <p:cNvPr id="41" name="Text 38"/>
          <p:cNvSpPr txBox="1"/>
          <p:nvPr/>
        </p:nvSpPr>
        <p:spPr>
          <a:xfrm>
            <a:off x="4526280" y="489204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42" name="Text 39"/>
          <p:cNvSpPr txBox="1"/>
          <p:nvPr/>
        </p:nvSpPr>
        <p:spPr>
          <a:xfrm>
            <a:off x="5394960" y="484632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Child's Pose</a:t>
            </a:r>
            <a:endParaRPr lang="en-US" sz="2200" dirty="0"/>
          </a:p>
        </p:txBody>
      </p:sp>
      <p:sp>
        <p:nvSpPr>
          <p:cNvPr id="43" name="Text 40"/>
          <p:cNvSpPr txBox="1"/>
          <p:nvPr/>
        </p:nvSpPr>
        <p:spPr>
          <a:xfrm>
            <a:off x="5394960" y="534924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1 point per 3 s hold</a:t>
            </a:r>
            <a:endParaRPr lang="en-US" sz="1400" dirty="0"/>
          </a:p>
        </p:txBody>
      </p:sp>
      <p:sp>
        <p:nvSpPr>
          <p:cNvPr id="44" name="Shape 41"/>
          <p:cNvSpPr/>
          <p:nvPr/>
        </p:nvSpPr>
        <p:spPr>
          <a:xfrm>
            <a:off x="8046720" y="4572000"/>
            <a:ext cx="3566160" cy="1325880"/>
          </a:xfrm>
          <a:prstGeom prst="roundRect">
            <a:avLst>
              <a:gd name="adj" fmla="val 8276"/>
            </a:avLst>
          </a:prstGeom>
          <a:solidFill>
            <a:srgbClr val="F3F4F7"/>
          </a:solidFill>
          <a:ln w="12700">
            <a:solidFill>
              <a:srgbClr val="F3F4F7"/>
            </a:solidFill>
            <a:prstDash val="solid"/>
          </a:ln>
        </p:spPr>
      </p:sp>
      <p:sp>
        <p:nvSpPr>
          <p:cNvPr id="45" name="Shape 42"/>
          <p:cNvSpPr/>
          <p:nvPr/>
        </p:nvSpPr>
        <p:spPr>
          <a:xfrm>
            <a:off x="8275320" y="4892040"/>
            <a:ext cx="685800" cy="685800"/>
          </a:xfrm>
          <a:prstGeom prst="ellipse">
            <a:avLst/>
          </a:prstGeom>
          <a:solidFill>
            <a:srgbClr val="7C5CFF"/>
          </a:solidFill>
          <a:ln w="12700">
            <a:solidFill>
              <a:srgbClr val="7C5CFF"/>
            </a:solidFill>
            <a:prstDash val="solid"/>
          </a:ln>
        </p:spPr>
      </p:sp>
      <p:sp>
        <p:nvSpPr>
          <p:cNvPr id="46" name="Text 43"/>
          <p:cNvSpPr txBox="1"/>
          <p:nvPr/>
        </p:nvSpPr>
        <p:spPr>
          <a:xfrm>
            <a:off x="8275320" y="489204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9</a:t>
            </a:r>
            <a:endParaRPr lang="en-US" sz="2200" dirty="0"/>
          </a:p>
        </p:txBody>
      </p:sp>
      <p:sp>
        <p:nvSpPr>
          <p:cNvPr id="47" name="Text 44"/>
          <p:cNvSpPr txBox="1"/>
          <p:nvPr/>
        </p:nvSpPr>
        <p:spPr>
          <a:xfrm>
            <a:off x="9144000" y="4846320"/>
            <a:ext cx="2377440" cy="457200"/>
          </a:xfrm>
          <a:prstGeom prst="rect">
            <a:avLst/>
          </a:prstGeom>
          <a:noFill/>
          <a:ln/>
        </p:spPr>
        <p:txBody>
          <a:bodyPr wrap="square" lIns="0" tIns="0" rIns="0" bIns="0" rtlCol="0" anchor="t"/>
          <a:lstStyle/>
          <a:p>
            <a:pPr indent="0" marL="0">
              <a:buNone/>
            </a:pPr>
            <a:r>
              <a:rPr lang="en-US" sz="2200" b="1" dirty="0">
                <a:solidFill>
                  <a:srgbClr val="12141C"/>
                </a:solidFill>
                <a:latin typeface="Cambria" pitchFamily="34" charset="0"/>
                <a:ea typeface="Cambria" pitchFamily="34" charset="-122"/>
                <a:cs typeface="Cambria" pitchFamily="34" charset="-120"/>
              </a:rPr>
              <a:t>Tree Pose</a:t>
            </a:r>
            <a:endParaRPr lang="en-US" sz="2200" dirty="0"/>
          </a:p>
        </p:txBody>
      </p:sp>
      <p:sp>
        <p:nvSpPr>
          <p:cNvPr id="48" name="Text 45"/>
          <p:cNvSpPr txBox="1"/>
          <p:nvPr/>
        </p:nvSpPr>
        <p:spPr>
          <a:xfrm>
            <a:off x="9144000" y="5349240"/>
            <a:ext cx="2377440" cy="365760"/>
          </a:xfrm>
          <a:prstGeom prst="rect">
            <a:avLst/>
          </a:prstGeom>
          <a:noFill/>
          <a:ln/>
        </p:spPr>
        <p:txBody>
          <a:bodyPr wrap="square" lIns="0" tIns="0" rIns="0" bIns="0" rtlCol="0" anchor="t"/>
          <a:lstStyle/>
          <a:p>
            <a:pPr indent="0" marL="0">
              <a:buNone/>
            </a:pPr>
            <a:r>
              <a:rPr lang="en-US" sz="1400" dirty="0">
                <a:solidFill>
                  <a:srgbClr val="555B70"/>
                </a:solidFill>
                <a:latin typeface="Calibri" pitchFamily="34" charset="0"/>
                <a:ea typeface="Calibri" pitchFamily="34" charset="-122"/>
                <a:cs typeface="Calibri" pitchFamily="34" charset="-120"/>
              </a:rPr>
              <a:t>Longest unbroken hold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41C"/>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Every rep earns something</a:t>
            </a:r>
            <a:endParaRPr lang="en-US" sz="3800" dirty="0"/>
          </a:p>
        </p:txBody>
      </p:sp>
      <p:sp>
        <p:nvSpPr>
          <p:cNvPr id="4" name="Shape 1"/>
          <p:cNvSpPr/>
          <p:nvPr/>
        </p:nvSpPr>
        <p:spPr>
          <a:xfrm>
            <a:off x="548640" y="1554480"/>
            <a:ext cx="5486400" cy="4480560"/>
          </a:xfrm>
          <a:prstGeom prst="roundRect">
            <a:avLst>
              <a:gd name="adj" fmla="val 2449"/>
            </a:avLst>
          </a:prstGeom>
          <a:solidFill>
            <a:srgbClr val="1F2333"/>
          </a:solidFill>
          <a:ln w="12700">
            <a:solidFill>
              <a:srgbClr val="1F2333"/>
            </a:solidFill>
            <a:prstDash val="solid"/>
          </a:ln>
        </p:spPr>
      </p:sp>
      <p:sp>
        <p:nvSpPr>
          <p:cNvPr id="5" name="Shape 2"/>
          <p:cNvSpPr/>
          <p:nvPr/>
        </p:nvSpPr>
        <p:spPr>
          <a:xfrm>
            <a:off x="6217920" y="1554480"/>
            <a:ext cx="5394960" cy="4480560"/>
          </a:xfrm>
          <a:prstGeom prst="roundRect">
            <a:avLst>
              <a:gd name="adj" fmla="val 2449"/>
            </a:avLst>
          </a:prstGeom>
          <a:solidFill>
            <a:srgbClr val="1F2333"/>
          </a:solidFill>
          <a:ln w="12700">
            <a:solidFill>
              <a:srgbClr val="1F2333"/>
            </a:solidFill>
            <a:prstDash val="solid"/>
          </a:ln>
        </p:spPr>
      </p:sp>
      <p:sp>
        <p:nvSpPr>
          <p:cNvPr id="6" name="Text 3"/>
          <p:cNvSpPr txBox="1"/>
          <p:nvPr/>
        </p:nvSpPr>
        <p:spPr>
          <a:xfrm>
            <a:off x="822960" y="1783080"/>
            <a:ext cx="4937760" cy="457200"/>
          </a:xfrm>
          <a:prstGeom prst="rect">
            <a:avLst/>
          </a:prstGeom>
          <a:noFill/>
          <a:ln/>
        </p:spPr>
        <p:txBody>
          <a:bodyPr wrap="square" lIns="0" tIns="0" rIns="0" bIns="0" rtlCol="0" anchor="t"/>
          <a:lstStyle/>
          <a:p>
            <a:pPr indent="0" marL="0">
              <a:buNone/>
            </a:pPr>
            <a:r>
              <a:rPr lang="en-US" sz="2400" b="1" dirty="0">
                <a:solidFill>
                  <a:srgbClr val="FF6A2B"/>
                </a:solidFill>
                <a:latin typeface="Cambria" pitchFamily="34" charset="0"/>
                <a:ea typeface="Cambria" pitchFamily="34" charset="-122"/>
                <a:cs typeface="Cambria" pitchFamily="34" charset="-120"/>
              </a:rPr>
              <a:t>Athlete level (XP)</a:t>
            </a:r>
            <a:endParaRPr lang="en-US" sz="2400" dirty="0"/>
          </a:p>
        </p:txBody>
      </p:sp>
      <p:sp>
        <p:nvSpPr>
          <p:cNvPr id="7" name="Text 4"/>
          <p:cNvSpPr txBox="1"/>
          <p:nvPr/>
        </p:nvSpPr>
        <p:spPr>
          <a:xfrm>
            <a:off x="822960" y="237744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1 XP per rep</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25 XP per match</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2 XP per calorie</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50 XP per daily challenge</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10 XP = 1 coin for the shop</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Rookie, Challenger, Warrior, Master, Champion, Legend</a:t>
            </a:r>
            <a:endParaRPr lang="en-US" sz="1700" dirty="0"/>
          </a:p>
        </p:txBody>
      </p:sp>
      <p:sp>
        <p:nvSpPr>
          <p:cNvPr id="8" name="Text 5"/>
          <p:cNvSpPr txBox="1"/>
          <p:nvPr/>
        </p:nvSpPr>
        <p:spPr>
          <a:xfrm>
            <a:off x="6492240" y="1783080"/>
            <a:ext cx="4846320" cy="457200"/>
          </a:xfrm>
          <a:prstGeom prst="rect">
            <a:avLst/>
          </a:prstGeom>
          <a:noFill/>
          <a:ln/>
        </p:spPr>
        <p:txBody>
          <a:bodyPr wrap="square" lIns="0" tIns="0" rIns="0" bIns="0" rtlCol="0" anchor="t"/>
          <a:lstStyle/>
          <a:p>
            <a:pPr indent="0" marL="0">
              <a:buNone/>
            </a:pPr>
            <a:r>
              <a:rPr lang="en-US" sz="2400" b="1" dirty="0">
                <a:solidFill>
                  <a:srgbClr val="2EC4B6"/>
                </a:solidFill>
                <a:latin typeface="Cambria" pitchFamily="34" charset="0"/>
                <a:ea typeface="Cambria" pitchFamily="34" charset="-122"/>
                <a:cs typeface="Cambria" pitchFamily="34" charset="-120"/>
              </a:rPr>
              <a:t>Ranked tier (match points)</a:t>
            </a:r>
            <a:endParaRPr lang="en-US" sz="2400" dirty="0"/>
          </a:p>
        </p:txBody>
      </p:sp>
      <p:sp>
        <p:nvSpPr>
          <p:cNvPr id="9" name="Shape 6"/>
          <p:cNvSpPr/>
          <p:nvPr/>
        </p:nvSpPr>
        <p:spPr>
          <a:xfrm>
            <a:off x="6492240" y="2432304"/>
            <a:ext cx="256032" cy="256032"/>
          </a:xfrm>
          <a:prstGeom prst="ellipse">
            <a:avLst/>
          </a:prstGeom>
          <a:solidFill>
            <a:srgbClr val="CD7F32"/>
          </a:solidFill>
          <a:ln w="12700">
            <a:solidFill>
              <a:srgbClr val="CD7F32"/>
            </a:solidFill>
            <a:prstDash val="solid"/>
          </a:ln>
        </p:spPr>
      </p:sp>
      <p:sp>
        <p:nvSpPr>
          <p:cNvPr id="10" name="Text 7"/>
          <p:cNvSpPr txBox="1"/>
          <p:nvPr/>
        </p:nvSpPr>
        <p:spPr>
          <a:xfrm>
            <a:off x="6903720" y="2377440"/>
            <a:ext cx="22860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Bronze</a:t>
            </a:r>
            <a:endParaRPr lang="en-US" sz="1700" dirty="0"/>
          </a:p>
        </p:txBody>
      </p:sp>
      <p:sp>
        <p:nvSpPr>
          <p:cNvPr id="11" name="Text 8"/>
          <p:cNvSpPr txBox="1"/>
          <p:nvPr/>
        </p:nvSpPr>
        <p:spPr>
          <a:xfrm>
            <a:off x="9509760" y="2377440"/>
            <a:ext cx="1828800" cy="365760"/>
          </a:xfrm>
          <a:prstGeom prst="rect">
            <a:avLst/>
          </a:prstGeom>
          <a:noFill/>
          <a:ln/>
        </p:spPr>
        <p:txBody>
          <a:bodyPr wrap="square" lIns="0" tIns="0" rIns="0" bIns="0" rtlCol="0" anchor="ctr"/>
          <a:lstStyle/>
          <a:p>
            <a:pPr algn="r" indent="0" marL="0">
              <a:buNone/>
            </a:pPr>
            <a:r>
              <a:rPr lang="en-US" sz="1700" dirty="0">
                <a:solidFill>
                  <a:srgbClr val="C9CCD8"/>
                </a:solidFill>
                <a:latin typeface="Calibri" pitchFamily="34" charset="0"/>
                <a:ea typeface="Calibri" pitchFamily="34" charset="-122"/>
                <a:cs typeface="Calibri" pitchFamily="34" charset="-120"/>
              </a:rPr>
              <a:t>0 pts</a:t>
            </a:r>
            <a:endParaRPr lang="en-US" sz="1700" dirty="0"/>
          </a:p>
        </p:txBody>
      </p:sp>
      <p:sp>
        <p:nvSpPr>
          <p:cNvPr id="12" name="Shape 9"/>
          <p:cNvSpPr/>
          <p:nvPr/>
        </p:nvSpPr>
        <p:spPr>
          <a:xfrm>
            <a:off x="6492240" y="2889504"/>
            <a:ext cx="256032" cy="256032"/>
          </a:xfrm>
          <a:prstGeom prst="ellipse">
            <a:avLst/>
          </a:prstGeom>
          <a:solidFill>
            <a:srgbClr val="C0C0C0"/>
          </a:solidFill>
          <a:ln w="12700">
            <a:solidFill>
              <a:srgbClr val="C0C0C0"/>
            </a:solidFill>
            <a:prstDash val="solid"/>
          </a:ln>
        </p:spPr>
      </p:sp>
      <p:sp>
        <p:nvSpPr>
          <p:cNvPr id="13" name="Text 10"/>
          <p:cNvSpPr txBox="1"/>
          <p:nvPr/>
        </p:nvSpPr>
        <p:spPr>
          <a:xfrm>
            <a:off x="6903720" y="2834640"/>
            <a:ext cx="22860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Silver</a:t>
            </a:r>
            <a:endParaRPr lang="en-US" sz="1700" dirty="0"/>
          </a:p>
        </p:txBody>
      </p:sp>
      <p:sp>
        <p:nvSpPr>
          <p:cNvPr id="14" name="Text 11"/>
          <p:cNvSpPr txBox="1"/>
          <p:nvPr/>
        </p:nvSpPr>
        <p:spPr>
          <a:xfrm>
            <a:off x="9509760" y="2834640"/>
            <a:ext cx="1828800" cy="365760"/>
          </a:xfrm>
          <a:prstGeom prst="rect">
            <a:avLst/>
          </a:prstGeom>
          <a:noFill/>
          <a:ln/>
        </p:spPr>
        <p:txBody>
          <a:bodyPr wrap="square" lIns="0" tIns="0" rIns="0" bIns="0" rtlCol="0" anchor="ctr"/>
          <a:lstStyle/>
          <a:p>
            <a:pPr algn="r" indent="0" marL="0">
              <a:buNone/>
            </a:pPr>
            <a:r>
              <a:rPr lang="en-US" sz="1700" dirty="0">
                <a:solidFill>
                  <a:srgbClr val="C9CCD8"/>
                </a:solidFill>
                <a:latin typeface="Calibri" pitchFamily="34" charset="0"/>
                <a:ea typeface="Calibri" pitchFamily="34" charset="-122"/>
                <a:cs typeface="Calibri" pitchFamily="34" charset="-120"/>
              </a:rPr>
              <a:t>100 pts</a:t>
            </a:r>
            <a:endParaRPr lang="en-US" sz="1700" dirty="0"/>
          </a:p>
        </p:txBody>
      </p:sp>
      <p:sp>
        <p:nvSpPr>
          <p:cNvPr id="15" name="Shape 12"/>
          <p:cNvSpPr/>
          <p:nvPr/>
        </p:nvSpPr>
        <p:spPr>
          <a:xfrm>
            <a:off x="6492240" y="3346704"/>
            <a:ext cx="256032" cy="256032"/>
          </a:xfrm>
          <a:prstGeom prst="ellipse">
            <a:avLst/>
          </a:prstGeom>
          <a:solidFill>
            <a:srgbClr val="FFC247"/>
          </a:solidFill>
          <a:ln w="12700">
            <a:solidFill>
              <a:srgbClr val="FFC247"/>
            </a:solidFill>
            <a:prstDash val="solid"/>
          </a:ln>
        </p:spPr>
      </p:sp>
      <p:sp>
        <p:nvSpPr>
          <p:cNvPr id="16" name="Text 13"/>
          <p:cNvSpPr txBox="1"/>
          <p:nvPr/>
        </p:nvSpPr>
        <p:spPr>
          <a:xfrm>
            <a:off x="6903720" y="3291840"/>
            <a:ext cx="22860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Gold</a:t>
            </a:r>
            <a:endParaRPr lang="en-US" sz="1700" dirty="0"/>
          </a:p>
        </p:txBody>
      </p:sp>
      <p:sp>
        <p:nvSpPr>
          <p:cNvPr id="17" name="Text 14"/>
          <p:cNvSpPr txBox="1"/>
          <p:nvPr/>
        </p:nvSpPr>
        <p:spPr>
          <a:xfrm>
            <a:off x="9509760" y="3291840"/>
            <a:ext cx="1828800" cy="365760"/>
          </a:xfrm>
          <a:prstGeom prst="rect">
            <a:avLst/>
          </a:prstGeom>
          <a:noFill/>
          <a:ln/>
        </p:spPr>
        <p:txBody>
          <a:bodyPr wrap="square" lIns="0" tIns="0" rIns="0" bIns="0" rtlCol="0" anchor="ctr"/>
          <a:lstStyle/>
          <a:p>
            <a:pPr algn="r" indent="0" marL="0">
              <a:buNone/>
            </a:pPr>
            <a:r>
              <a:rPr lang="en-US" sz="1700" dirty="0">
                <a:solidFill>
                  <a:srgbClr val="C9CCD8"/>
                </a:solidFill>
                <a:latin typeface="Calibri" pitchFamily="34" charset="0"/>
                <a:ea typeface="Calibri" pitchFamily="34" charset="-122"/>
                <a:cs typeface="Calibri" pitchFamily="34" charset="-120"/>
              </a:rPr>
              <a:t>250 pts</a:t>
            </a:r>
            <a:endParaRPr lang="en-US" sz="1700" dirty="0"/>
          </a:p>
        </p:txBody>
      </p:sp>
      <p:sp>
        <p:nvSpPr>
          <p:cNvPr id="18" name="Shape 15"/>
          <p:cNvSpPr/>
          <p:nvPr/>
        </p:nvSpPr>
        <p:spPr>
          <a:xfrm>
            <a:off x="6492240" y="3803904"/>
            <a:ext cx="256032" cy="256032"/>
          </a:xfrm>
          <a:prstGeom prst="ellipse">
            <a:avLst/>
          </a:prstGeom>
          <a:solidFill>
            <a:srgbClr val="7FD6E8"/>
          </a:solidFill>
          <a:ln w="12700">
            <a:solidFill>
              <a:srgbClr val="7FD6E8"/>
            </a:solidFill>
            <a:prstDash val="solid"/>
          </a:ln>
        </p:spPr>
      </p:sp>
      <p:sp>
        <p:nvSpPr>
          <p:cNvPr id="19" name="Text 16"/>
          <p:cNvSpPr txBox="1"/>
          <p:nvPr/>
        </p:nvSpPr>
        <p:spPr>
          <a:xfrm>
            <a:off x="6903720" y="3749040"/>
            <a:ext cx="22860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Platinum</a:t>
            </a:r>
            <a:endParaRPr lang="en-US" sz="1700" dirty="0"/>
          </a:p>
        </p:txBody>
      </p:sp>
      <p:sp>
        <p:nvSpPr>
          <p:cNvPr id="20" name="Text 17"/>
          <p:cNvSpPr txBox="1"/>
          <p:nvPr/>
        </p:nvSpPr>
        <p:spPr>
          <a:xfrm>
            <a:off x="9509760" y="3749040"/>
            <a:ext cx="1828800" cy="365760"/>
          </a:xfrm>
          <a:prstGeom prst="rect">
            <a:avLst/>
          </a:prstGeom>
          <a:noFill/>
          <a:ln/>
        </p:spPr>
        <p:txBody>
          <a:bodyPr wrap="square" lIns="0" tIns="0" rIns="0" bIns="0" rtlCol="0" anchor="ctr"/>
          <a:lstStyle/>
          <a:p>
            <a:pPr algn="r" indent="0" marL="0">
              <a:buNone/>
            </a:pPr>
            <a:r>
              <a:rPr lang="en-US" sz="1700" dirty="0">
                <a:solidFill>
                  <a:srgbClr val="C9CCD8"/>
                </a:solidFill>
                <a:latin typeface="Calibri" pitchFamily="34" charset="0"/>
                <a:ea typeface="Calibri" pitchFamily="34" charset="-122"/>
                <a:cs typeface="Calibri" pitchFamily="34" charset="-120"/>
              </a:rPr>
              <a:t>500 pts</a:t>
            </a:r>
            <a:endParaRPr lang="en-US" sz="1700" dirty="0"/>
          </a:p>
        </p:txBody>
      </p:sp>
      <p:sp>
        <p:nvSpPr>
          <p:cNvPr id="21" name="Shape 18"/>
          <p:cNvSpPr/>
          <p:nvPr/>
        </p:nvSpPr>
        <p:spPr>
          <a:xfrm>
            <a:off x="6492240" y="4261104"/>
            <a:ext cx="256032" cy="256032"/>
          </a:xfrm>
          <a:prstGeom prst="ellipse">
            <a:avLst/>
          </a:prstGeom>
          <a:solidFill>
            <a:srgbClr val="6FA8FF"/>
          </a:solidFill>
          <a:ln w="12700">
            <a:solidFill>
              <a:srgbClr val="6FA8FF"/>
            </a:solidFill>
            <a:prstDash val="solid"/>
          </a:ln>
        </p:spPr>
      </p:sp>
      <p:sp>
        <p:nvSpPr>
          <p:cNvPr id="22" name="Text 19"/>
          <p:cNvSpPr txBox="1"/>
          <p:nvPr/>
        </p:nvSpPr>
        <p:spPr>
          <a:xfrm>
            <a:off x="6903720" y="4206240"/>
            <a:ext cx="22860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Diamond</a:t>
            </a:r>
            <a:endParaRPr lang="en-US" sz="1700" dirty="0"/>
          </a:p>
        </p:txBody>
      </p:sp>
      <p:sp>
        <p:nvSpPr>
          <p:cNvPr id="23" name="Text 20"/>
          <p:cNvSpPr txBox="1"/>
          <p:nvPr/>
        </p:nvSpPr>
        <p:spPr>
          <a:xfrm>
            <a:off x="9509760" y="4206240"/>
            <a:ext cx="1828800" cy="365760"/>
          </a:xfrm>
          <a:prstGeom prst="rect">
            <a:avLst/>
          </a:prstGeom>
          <a:noFill/>
          <a:ln/>
        </p:spPr>
        <p:txBody>
          <a:bodyPr wrap="square" lIns="0" tIns="0" rIns="0" bIns="0" rtlCol="0" anchor="ctr"/>
          <a:lstStyle/>
          <a:p>
            <a:pPr algn="r" indent="0" marL="0">
              <a:buNone/>
            </a:pPr>
            <a:r>
              <a:rPr lang="en-US" sz="1700" dirty="0">
                <a:solidFill>
                  <a:srgbClr val="C9CCD8"/>
                </a:solidFill>
                <a:latin typeface="Calibri" pitchFamily="34" charset="0"/>
                <a:ea typeface="Calibri" pitchFamily="34" charset="-122"/>
                <a:cs typeface="Calibri" pitchFamily="34" charset="-120"/>
              </a:rPr>
              <a:t>1000 pts</a:t>
            </a:r>
            <a:endParaRPr lang="en-US" sz="1700" dirty="0"/>
          </a:p>
        </p:txBody>
      </p:sp>
      <p:sp>
        <p:nvSpPr>
          <p:cNvPr id="24" name="Shape 21"/>
          <p:cNvSpPr/>
          <p:nvPr/>
        </p:nvSpPr>
        <p:spPr>
          <a:xfrm>
            <a:off x="6492240" y="4718304"/>
            <a:ext cx="256032" cy="256032"/>
          </a:xfrm>
          <a:prstGeom prst="ellipse">
            <a:avLst/>
          </a:prstGeom>
          <a:solidFill>
            <a:srgbClr val="C77DFF"/>
          </a:solidFill>
          <a:ln w="12700">
            <a:solidFill>
              <a:srgbClr val="C77DFF"/>
            </a:solidFill>
            <a:prstDash val="solid"/>
          </a:ln>
        </p:spPr>
      </p:sp>
      <p:sp>
        <p:nvSpPr>
          <p:cNvPr id="25" name="Text 22"/>
          <p:cNvSpPr txBox="1"/>
          <p:nvPr/>
        </p:nvSpPr>
        <p:spPr>
          <a:xfrm>
            <a:off x="6903720" y="4663440"/>
            <a:ext cx="2286000" cy="3657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Immortal</a:t>
            </a:r>
            <a:endParaRPr lang="en-US" sz="1700" dirty="0"/>
          </a:p>
        </p:txBody>
      </p:sp>
      <p:sp>
        <p:nvSpPr>
          <p:cNvPr id="26" name="Text 23"/>
          <p:cNvSpPr txBox="1"/>
          <p:nvPr/>
        </p:nvSpPr>
        <p:spPr>
          <a:xfrm>
            <a:off x="9509760" y="4663440"/>
            <a:ext cx="1828800" cy="365760"/>
          </a:xfrm>
          <a:prstGeom prst="rect">
            <a:avLst/>
          </a:prstGeom>
          <a:noFill/>
          <a:ln/>
        </p:spPr>
        <p:txBody>
          <a:bodyPr wrap="square" lIns="0" tIns="0" rIns="0" bIns="0" rtlCol="0" anchor="ctr"/>
          <a:lstStyle/>
          <a:p>
            <a:pPr algn="r" indent="0" marL="0">
              <a:buNone/>
            </a:pPr>
            <a:r>
              <a:rPr lang="en-US" sz="1700" dirty="0">
                <a:solidFill>
                  <a:srgbClr val="C9CCD8"/>
                </a:solidFill>
                <a:latin typeface="Calibri" pitchFamily="34" charset="0"/>
                <a:ea typeface="Calibri" pitchFamily="34" charset="-122"/>
                <a:cs typeface="Calibri" pitchFamily="34" charset="-120"/>
              </a:rPr>
              <a:t>2000 pts</a:t>
            </a:r>
            <a:endParaRPr lang="en-US" sz="1700" dirty="0"/>
          </a:p>
        </p:txBody>
      </p:sp>
      <p:sp>
        <p:nvSpPr>
          <p:cNvPr id="27" name="Text 24"/>
          <p:cNvSpPr txBox="1"/>
          <p:nvPr/>
        </p:nvSpPr>
        <p:spPr>
          <a:xfrm>
            <a:off x="6492240" y="5212080"/>
            <a:ext cx="4937760" cy="457200"/>
          </a:xfrm>
          <a:prstGeom prst="rect">
            <a:avLst/>
          </a:prstGeom>
          <a:noFill/>
          <a:ln/>
        </p:spPr>
        <p:txBody>
          <a:bodyPr wrap="square" lIns="0" tIns="0" rIns="0" bIns="0" rtlCol="0" anchor="t"/>
          <a:lstStyle/>
          <a:p>
            <a:pPr indent="0" marL="0">
              <a:buNone/>
            </a:pPr>
            <a:r>
              <a:rPr lang="en-US" sz="1800" b="1" dirty="0">
                <a:solidFill>
                  <a:srgbClr val="FFC247"/>
                </a:solidFill>
                <a:latin typeface="Calibri" pitchFamily="34" charset="0"/>
                <a:ea typeface="Calibri" pitchFamily="34" charset="-122"/>
                <a:cs typeface="Calibri" pitchFamily="34" charset="-120"/>
              </a:rPr>
              <a:t>Win +10   Draw +5   Defeat -10</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12141C"/>
                </a:solidFill>
                <a:latin typeface="Cambria" pitchFamily="34" charset="0"/>
                <a:ea typeface="Cambria" pitchFamily="34" charset="-122"/>
                <a:cs typeface="Cambria" pitchFamily="34" charset="-120"/>
              </a:rPr>
              <a:t>Three ways to battle</a:t>
            </a:r>
            <a:endParaRPr lang="en-US" sz="3800" dirty="0"/>
          </a:p>
        </p:txBody>
      </p:sp>
      <p:sp>
        <p:nvSpPr>
          <p:cNvPr id="4" name="Shape 1"/>
          <p:cNvSpPr/>
          <p:nvPr/>
        </p:nvSpPr>
        <p:spPr>
          <a:xfrm>
            <a:off x="548640" y="1554480"/>
            <a:ext cx="3566160" cy="3383280"/>
          </a:xfrm>
          <a:prstGeom prst="roundRect">
            <a:avLst>
              <a:gd name="adj" fmla="val 3243"/>
            </a:avLst>
          </a:prstGeom>
          <a:solidFill>
            <a:srgbClr val="F3F4F7"/>
          </a:solidFill>
          <a:ln w="12700">
            <a:solidFill>
              <a:srgbClr val="F3F4F7"/>
            </a:solidFill>
            <a:prstDash val="solid"/>
          </a:ln>
        </p:spPr>
      </p:sp>
      <p:sp>
        <p:nvSpPr>
          <p:cNvPr id="5" name="Shape 2"/>
          <p:cNvSpPr/>
          <p:nvPr/>
        </p:nvSpPr>
        <p:spPr>
          <a:xfrm>
            <a:off x="822960" y="1783080"/>
            <a:ext cx="731520" cy="731520"/>
          </a:xfrm>
          <a:prstGeom prst="ellipse">
            <a:avLst/>
          </a:prstGeom>
          <a:solidFill>
            <a:srgbClr val="FF6A2B"/>
          </a:solidFill>
          <a:ln w="12700">
            <a:solidFill>
              <a:srgbClr val="FF6A2B"/>
            </a:solidFill>
            <a:prstDash val="solid"/>
          </a:ln>
        </p:spPr>
      </p:sp>
      <p:sp>
        <p:nvSpPr>
          <p:cNvPr id="6" name="Text 3"/>
          <p:cNvSpPr txBox="1"/>
          <p:nvPr/>
        </p:nvSpPr>
        <p:spPr>
          <a:xfrm>
            <a:off x="82296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4"/>
          <p:cNvSpPr txBox="1"/>
          <p:nvPr/>
        </p:nvSpPr>
        <p:spPr>
          <a:xfrm>
            <a:off x="822960" y="2697480"/>
            <a:ext cx="3108960" cy="457200"/>
          </a:xfrm>
          <a:prstGeom prst="rect">
            <a:avLst/>
          </a:prstGeom>
          <a:noFill/>
          <a:ln/>
        </p:spPr>
        <p:txBody>
          <a:bodyPr wrap="square" lIns="0" tIns="0" rIns="0" bIns="0" rtlCol="0" anchor="t"/>
          <a:lstStyle/>
          <a:p>
            <a:pPr indent="0" marL="0">
              <a:buNone/>
            </a:pPr>
            <a:r>
              <a:rPr lang="en-US" sz="2600" b="1" dirty="0">
                <a:solidFill>
                  <a:srgbClr val="12141C"/>
                </a:solidFill>
                <a:latin typeface="Cambria" pitchFamily="34" charset="0"/>
                <a:ea typeface="Cambria" pitchFamily="34" charset="-122"/>
                <a:cs typeface="Cambria" pitchFamily="34" charset="-120"/>
              </a:rPr>
              <a:t>1v1 Duel</a:t>
            </a:r>
            <a:endParaRPr lang="en-US" sz="2600" dirty="0"/>
          </a:p>
        </p:txBody>
      </p:sp>
      <p:sp>
        <p:nvSpPr>
          <p:cNvPr id="8" name="Text 5"/>
          <p:cNvSpPr txBox="1"/>
          <p:nvPr/>
        </p:nvSpPr>
        <p:spPr>
          <a:xfrm>
            <a:off x="822960" y="3291840"/>
            <a:ext cx="3108960" cy="155448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Live rival from the queue, or a simulated one after 7 to 13 s. Challenge a friend with a one-tap invite.</a:t>
            </a:r>
            <a:endParaRPr lang="en-US" sz="1600" dirty="0"/>
          </a:p>
        </p:txBody>
      </p:sp>
      <p:sp>
        <p:nvSpPr>
          <p:cNvPr id="9" name="Shape 6"/>
          <p:cNvSpPr/>
          <p:nvPr/>
        </p:nvSpPr>
        <p:spPr>
          <a:xfrm>
            <a:off x="4297680" y="1554480"/>
            <a:ext cx="3566160" cy="3383280"/>
          </a:xfrm>
          <a:prstGeom prst="roundRect">
            <a:avLst>
              <a:gd name="adj" fmla="val 3243"/>
            </a:avLst>
          </a:prstGeom>
          <a:solidFill>
            <a:srgbClr val="F3F4F7"/>
          </a:solidFill>
          <a:ln w="12700">
            <a:solidFill>
              <a:srgbClr val="F3F4F7"/>
            </a:solidFill>
            <a:prstDash val="solid"/>
          </a:ln>
        </p:spPr>
      </p:sp>
      <p:sp>
        <p:nvSpPr>
          <p:cNvPr id="10" name="Shape 7"/>
          <p:cNvSpPr/>
          <p:nvPr/>
        </p:nvSpPr>
        <p:spPr>
          <a:xfrm>
            <a:off x="4572000" y="1783080"/>
            <a:ext cx="731520" cy="731520"/>
          </a:xfrm>
          <a:prstGeom prst="ellipse">
            <a:avLst/>
          </a:prstGeom>
          <a:solidFill>
            <a:srgbClr val="2EC4B6"/>
          </a:solidFill>
          <a:ln w="12700">
            <a:solidFill>
              <a:srgbClr val="2EC4B6"/>
            </a:solidFill>
            <a:prstDash val="solid"/>
          </a:ln>
        </p:spPr>
      </p:sp>
      <p:sp>
        <p:nvSpPr>
          <p:cNvPr id="11" name="Text 8"/>
          <p:cNvSpPr txBox="1"/>
          <p:nvPr/>
        </p:nvSpPr>
        <p:spPr>
          <a:xfrm>
            <a:off x="457200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2" name="Text 9"/>
          <p:cNvSpPr txBox="1"/>
          <p:nvPr/>
        </p:nvSpPr>
        <p:spPr>
          <a:xfrm>
            <a:off x="4572000" y="2697480"/>
            <a:ext cx="3108960" cy="457200"/>
          </a:xfrm>
          <a:prstGeom prst="rect">
            <a:avLst/>
          </a:prstGeom>
          <a:noFill/>
          <a:ln/>
        </p:spPr>
        <p:txBody>
          <a:bodyPr wrap="square" lIns="0" tIns="0" rIns="0" bIns="0" rtlCol="0" anchor="t"/>
          <a:lstStyle/>
          <a:p>
            <a:pPr indent="0" marL="0">
              <a:buNone/>
            </a:pPr>
            <a:r>
              <a:rPr lang="en-US" sz="2600" b="1" dirty="0">
                <a:solidFill>
                  <a:srgbClr val="12141C"/>
                </a:solidFill>
                <a:latin typeface="Cambria" pitchFamily="34" charset="0"/>
                <a:ea typeface="Cambria" pitchFamily="34" charset="-122"/>
                <a:cs typeface="Cambria" pitchFamily="34" charset="-120"/>
              </a:rPr>
              <a:t>Battle Ground</a:t>
            </a:r>
            <a:endParaRPr lang="en-US" sz="2600" dirty="0"/>
          </a:p>
        </p:txBody>
      </p:sp>
      <p:sp>
        <p:nvSpPr>
          <p:cNvPr id="13" name="Text 10"/>
          <p:cNvSpPr txBox="1"/>
          <p:nvPr/>
        </p:nvSpPr>
        <p:spPr>
          <a:xfrm>
            <a:off x="4572000" y="3291840"/>
            <a:ext cx="3108960" cy="155448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Up to 10 athletes, a 30 s lobby and a live leaderboard. Top 3 is a podium finish.</a:t>
            </a:r>
            <a:endParaRPr lang="en-US" sz="1600" dirty="0"/>
          </a:p>
        </p:txBody>
      </p:sp>
      <p:sp>
        <p:nvSpPr>
          <p:cNvPr id="14" name="Shape 11"/>
          <p:cNvSpPr/>
          <p:nvPr/>
        </p:nvSpPr>
        <p:spPr>
          <a:xfrm>
            <a:off x="8046720" y="1554480"/>
            <a:ext cx="3566160" cy="3383280"/>
          </a:xfrm>
          <a:prstGeom prst="roundRect">
            <a:avLst>
              <a:gd name="adj" fmla="val 3243"/>
            </a:avLst>
          </a:prstGeom>
          <a:solidFill>
            <a:srgbClr val="F3F4F7"/>
          </a:solidFill>
          <a:ln w="12700">
            <a:solidFill>
              <a:srgbClr val="F3F4F7"/>
            </a:solidFill>
            <a:prstDash val="solid"/>
          </a:ln>
        </p:spPr>
      </p:sp>
      <p:sp>
        <p:nvSpPr>
          <p:cNvPr id="15" name="Shape 12"/>
          <p:cNvSpPr/>
          <p:nvPr/>
        </p:nvSpPr>
        <p:spPr>
          <a:xfrm>
            <a:off x="8321040" y="1783080"/>
            <a:ext cx="731520" cy="731520"/>
          </a:xfrm>
          <a:prstGeom prst="ellipse">
            <a:avLst/>
          </a:prstGeom>
          <a:solidFill>
            <a:srgbClr val="7C5CFF"/>
          </a:solidFill>
          <a:ln w="12700">
            <a:solidFill>
              <a:srgbClr val="7C5CFF"/>
            </a:solidFill>
            <a:prstDash val="solid"/>
          </a:ln>
        </p:spPr>
      </p:sp>
      <p:sp>
        <p:nvSpPr>
          <p:cNvPr id="16" name="Text 13"/>
          <p:cNvSpPr txBox="1"/>
          <p:nvPr/>
        </p:nvSpPr>
        <p:spPr>
          <a:xfrm>
            <a:off x="832104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4"/>
          <p:cNvSpPr txBox="1"/>
          <p:nvPr/>
        </p:nvSpPr>
        <p:spPr>
          <a:xfrm>
            <a:off x="8321040" y="2697480"/>
            <a:ext cx="3108960" cy="457200"/>
          </a:xfrm>
          <a:prstGeom prst="rect">
            <a:avLst/>
          </a:prstGeom>
          <a:noFill/>
          <a:ln/>
        </p:spPr>
        <p:txBody>
          <a:bodyPr wrap="square" lIns="0" tIns="0" rIns="0" bIns="0" rtlCol="0" anchor="t"/>
          <a:lstStyle/>
          <a:p>
            <a:pPr indent="0" marL="0">
              <a:buNone/>
            </a:pPr>
            <a:r>
              <a:rPr lang="en-US" sz="2600" b="1" dirty="0">
                <a:solidFill>
                  <a:srgbClr val="12141C"/>
                </a:solidFill>
                <a:latin typeface="Cambria" pitchFamily="34" charset="0"/>
                <a:ea typeface="Cambria" pitchFamily="34" charset="-122"/>
                <a:cs typeface="Cambria" pitchFamily="34" charset="-120"/>
              </a:rPr>
              <a:t>AI Duel</a:t>
            </a:r>
            <a:endParaRPr lang="en-US" sz="2600" dirty="0"/>
          </a:p>
        </p:txBody>
      </p:sp>
      <p:sp>
        <p:nvSpPr>
          <p:cNvPr id="18" name="Text 15"/>
          <p:cNvSpPr txBox="1"/>
          <p:nvPr/>
        </p:nvSpPr>
        <p:spPr>
          <a:xfrm>
            <a:off x="8321040" y="3291840"/>
            <a:ext cx="3108960" cy="1554480"/>
          </a:xfrm>
          <a:prstGeom prst="rect">
            <a:avLst/>
          </a:prstGeom>
          <a:noFill/>
          <a:ln/>
        </p:spPr>
        <p:txBody>
          <a:bodyPr wrap="square" lIns="0" tIns="0" rIns="0" bIns="0" rtlCol="0" anchor="t"/>
          <a:lstStyle/>
          <a:p>
            <a:pPr indent="0" marL="0">
              <a:buNone/>
            </a:pPr>
            <a:r>
              <a:rPr lang="en-US" sz="1600" dirty="0">
                <a:solidFill>
                  <a:srgbClr val="12141C"/>
                </a:solidFill>
                <a:latin typeface="Calibri" pitchFamily="34" charset="0"/>
                <a:ea typeface="Calibri" pitchFamily="34" charset="-122"/>
                <a:cs typeface="Calibri" pitchFamily="34" charset="-120"/>
              </a:rPr>
              <a:t>Four bots, from PulseBot to Ojas Pro, shown as a 3D opponent in every exercise. They adapt to keep it close.</a:t>
            </a:r>
            <a:endParaRPr lang="en-US" sz="1600" dirty="0"/>
          </a:p>
        </p:txBody>
      </p:sp>
      <p:sp>
        <p:nvSpPr>
          <p:cNvPr id="19" name="Text 16"/>
          <p:cNvSpPr txBox="1"/>
          <p:nvPr/>
        </p:nvSpPr>
        <p:spPr>
          <a:xfrm>
            <a:off x="548640" y="5349240"/>
            <a:ext cx="11064240" cy="457200"/>
          </a:xfrm>
          <a:prstGeom prst="rect">
            <a:avLst/>
          </a:prstGeom>
          <a:noFill/>
          <a:ln/>
        </p:spPr>
        <p:txBody>
          <a:bodyPr wrap="square" lIns="0" tIns="0" rIns="0" bIns="0" rtlCol="0" anchor="t"/>
          <a:lstStyle/>
          <a:p>
            <a:pPr indent="0" marL="0">
              <a:buNone/>
            </a:pPr>
            <a:r>
              <a:rPr lang="en-US" sz="2000" b="1" dirty="0">
                <a:solidFill>
                  <a:srgbClr val="FF6A2B"/>
                </a:solidFill>
                <a:latin typeface="Calibri" pitchFamily="34" charset="0"/>
                <a:ea typeface="Calibri" pitchFamily="34" charset="-122"/>
                <a:cs typeface="Calibri" pitchFamily="34" charset="-120"/>
              </a:rPr>
              <a:t>Match flow:  versus card  &gt;  30 s setup  &gt;  120 s match  &gt;  result and auto-queue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1C"/>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Friends, squads and your own 3D character</a:t>
            </a:r>
            <a:endParaRPr lang="en-US" sz="3800" dirty="0"/>
          </a:p>
        </p:txBody>
      </p:sp>
      <p:sp>
        <p:nvSpPr>
          <p:cNvPr id="4" name="Shape 1"/>
          <p:cNvSpPr/>
          <p:nvPr/>
        </p:nvSpPr>
        <p:spPr>
          <a:xfrm>
            <a:off x="548640" y="1554480"/>
            <a:ext cx="5394960" cy="4480560"/>
          </a:xfrm>
          <a:prstGeom prst="roundRect">
            <a:avLst>
              <a:gd name="adj" fmla="val 2449"/>
            </a:avLst>
          </a:prstGeom>
          <a:solidFill>
            <a:srgbClr val="1F2333"/>
          </a:solidFill>
          <a:ln w="12700">
            <a:solidFill>
              <a:srgbClr val="1F2333"/>
            </a:solidFill>
            <a:prstDash val="solid"/>
          </a:ln>
        </p:spPr>
      </p:sp>
      <p:sp>
        <p:nvSpPr>
          <p:cNvPr id="5" name="Shape 2"/>
          <p:cNvSpPr/>
          <p:nvPr/>
        </p:nvSpPr>
        <p:spPr>
          <a:xfrm>
            <a:off x="6217920" y="1554480"/>
            <a:ext cx="5394960" cy="4480560"/>
          </a:xfrm>
          <a:prstGeom prst="roundRect">
            <a:avLst>
              <a:gd name="adj" fmla="val 2449"/>
            </a:avLst>
          </a:prstGeom>
          <a:solidFill>
            <a:srgbClr val="1F2333"/>
          </a:solidFill>
          <a:ln w="12700">
            <a:solidFill>
              <a:srgbClr val="1F2333"/>
            </a:solidFill>
            <a:prstDash val="solid"/>
          </a:ln>
        </p:spPr>
      </p:sp>
      <p:sp>
        <p:nvSpPr>
          <p:cNvPr id="6" name="Text 3"/>
          <p:cNvSpPr txBox="1"/>
          <p:nvPr/>
        </p:nvSpPr>
        <p:spPr>
          <a:xfrm>
            <a:off x="822960" y="1783080"/>
            <a:ext cx="4846320" cy="457200"/>
          </a:xfrm>
          <a:prstGeom prst="rect">
            <a:avLst/>
          </a:prstGeom>
          <a:noFill/>
          <a:ln/>
        </p:spPr>
        <p:txBody>
          <a:bodyPr wrap="square" lIns="0" tIns="0" rIns="0" bIns="0" rtlCol="0" anchor="t"/>
          <a:lstStyle/>
          <a:p>
            <a:pPr indent="0" marL="0">
              <a:buNone/>
            </a:pPr>
            <a:r>
              <a:rPr lang="en-US" sz="2600" b="1" dirty="0">
                <a:solidFill>
                  <a:srgbClr val="2EC4B6"/>
                </a:solidFill>
                <a:latin typeface="Cambria" pitchFamily="34" charset="0"/>
                <a:ea typeface="Cambria" pitchFamily="34" charset="-122"/>
                <a:cs typeface="Cambria" pitchFamily="34" charset="-120"/>
              </a:rPr>
              <a:t>Social</a:t>
            </a:r>
            <a:endParaRPr lang="en-US" sz="2600" dirty="0"/>
          </a:p>
        </p:txBody>
      </p:sp>
      <p:sp>
        <p:nvSpPr>
          <p:cNvPr id="7" name="Text 4"/>
          <p:cNvSpPr txBox="1"/>
          <p:nvPr/>
        </p:nvSpPr>
        <p:spPr>
          <a:xfrm>
            <a:off x="822960" y="2423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Add friends by username, invite to a duel</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Squads for schools, universities and more</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Squad power = member points + 50 per member</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Tournaments and a news feed</a:t>
            </a:r>
            <a:endParaRPr lang="en-US" sz="1800" dirty="0"/>
          </a:p>
        </p:txBody>
      </p:sp>
      <p:sp>
        <p:nvSpPr>
          <p:cNvPr id="8" name="Text 5"/>
          <p:cNvSpPr txBox="1"/>
          <p:nvPr/>
        </p:nvSpPr>
        <p:spPr>
          <a:xfrm>
            <a:off x="6492240" y="1783080"/>
            <a:ext cx="4846320" cy="457200"/>
          </a:xfrm>
          <a:prstGeom prst="rect">
            <a:avLst/>
          </a:prstGeom>
          <a:noFill/>
          <a:ln/>
        </p:spPr>
        <p:txBody>
          <a:bodyPr wrap="square" lIns="0" tIns="0" rIns="0" bIns="0" rtlCol="0" anchor="t"/>
          <a:lstStyle/>
          <a:p>
            <a:pPr indent="0" marL="0">
              <a:buNone/>
            </a:pPr>
            <a:r>
              <a:rPr lang="en-US" sz="2600" b="1" dirty="0">
                <a:solidFill>
                  <a:srgbClr val="FF6A2B"/>
                </a:solidFill>
                <a:latin typeface="Cambria" pitchFamily="34" charset="0"/>
                <a:ea typeface="Cambria" pitchFamily="34" charset="-122"/>
                <a:cs typeface="Cambria" pitchFamily="34" charset="-120"/>
              </a:rPr>
              <a:t>Avatars and shop</a:t>
            </a:r>
            <a:endParaRPr lang="en-US" sz="2600" dirty="0"/>
          </a:p>
        </p:txBody>
      </p:sp>
      <p:sp>
        <p:nvSpPr>
          <p:cNvPr id="9" name="Text 6"/>
          <p:cNvSpPr txBox="1"/>
          <p:nvPr/>
        </p:nvSpPr>
        <p:spPr>
          <a:xfrm>
            <a:off x="6492240" y="2423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Two starter characters: Arjun and Meera</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Outfits from 150 to 1,100 coins</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Faces, hair, accessories, colour items</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Try on in 3D before you buy</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Purchases verified on the server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12141C"/>
                </a:solidFill>
                <a:latin typeface="Cambria" pitchFamily="34" charset="0"/>
                <a:ea typeface="Cambria" pitchFamily="34" charset="-122"/>
                <a:cs typeface="Cambria" pitchFamily="34" charset="-120"/>
              </a:rPr>
              <a:t>Posture scan: screening, not diagnosis</a:t>
            </a:r>
            <a:endParaRPr lang="en-US" sz="3800" dirty="0"/>
          </a:p>
        </p:txBody>
      </p:sp>
      <p:sp>
        <p:nvSpPr>
          <p:cNvPr id="4" name="Shape 1"/>
          <p:cNvSpPr/>
          <p:nvPr/>
        </p:nvSpPr>
        <p:spPr>
          <a:xfrm>
            <a:off x="548640" y="1645920"/>
            <a:ext cx="2103120" cy="2468880"/>
          </a:xfrm>
          <a:prstGeom prst="roundRect">
            <a:avLst>
              <a:gd name="adj" fmla="val 5217"/>
            </a:avLst>
          </a:prstGeom>
          <a:solidFill>
            <a:srgbClr val="F3F4F7"/>
          </a:solidFill>
          <a:ln w="12700">
            <a:solidFill>
              <a:srgbClr val="F3F4F7"/>
            </a:solidFill>
            <a:prstDash val="solid"/>
          </a:ln>
        </p:spPr>
      </p:sp>
      <p:sp>
        <p:nvSpPr>
          <p:cNvPr id="5" name="Text 2"/>
          <p:cNvSpPr txBox="1"/>
          <p:nvPr/>
        </p:nvSpPr>
        <p:spPr>
          <a:xfrm>
            <a:off x="731520" y="1828800"/>
            <a:ext cx="1737360" cy="822960"/>
          </a:xfrm>
          <a:prstGeom prst="rect">
            <a:avLst/>
          </a:prstGeom>
          <a:noFill/>
          <a:ln/>
        </p:spPr>
        <p:txBody>
          <a:bodyPr wrap="square" lIns="0" tIns="0" rIns="0" bIns="0" rtlCol="0" anchor="t"/>
          <a:lstStyle/>
          <a:p>
            <a:pPr indent="0" marL="0">
              <a:buNone/>
            </a:pPr>
            <a:r>
              <a:rPr lang="en-US" sz="2000" b="1" dirty="0">
                <a:solidFill>
                  <a:srgbClr val="12141C"/>
                </a:solidFill>
                <a:latin typeface="Cambria" pitchFamily="34" charset="0"/>
                <a:ea typeface="Cambria" pitchFamily="34" charset="-122"/>
                <a:cs typeface="Cambria" pitchFamily="34" charset="-120"/>
              </a:rPr>
              <a:t>Knock knees</a:t>
            </a:r>
            <a:endParaRPr lang="en-US" sz="2000" dirty="0"/>
          </a:p>
        </p:txBody>
      </p:sp>
      <p:sp>
        <p:nvSpPr>
          <p:cNvPr id="6" name="Text 3"/>
          <p:cNvSpPr txBox="1"/>
          <p:nvPr/>
        </p:nvSpPr>
        <p:spPr>
          <a:xfrm>
            <a:off x="731520" y="2743200"/>
            <a:ext cx="1737360" cy="274320"/>
          </a:xfrm>
          <a:prstGeom prst="rect">
            <a:avLst/>
          </a:prstGeom>
          <a:noFill/>
          <a:ln/>
        </p:spPr>
        <p:txBody>
          <a:bodyPr wrap="square" lIns="0" tIns="0" rIns="0" bIns="0" rtlCol="0" anchor="t"/>
          <a:lstStyle/>
          <a:p>
            <a:pPr indent="0" marL="0">
              <a:buNone/>
            </a:pPr>
            <a:r>
              <a:rPr lang="en-US" sz="1200" b="1" dirty="0">
                <a:solidFill>
                  <a:srgbClr val="8A90A6"/>
                </a:solidFill>
                <a:latin typeface="Calibri" pitchFamily="34" charset="0"/>
                <a:ea typeface="Calibri" pitchFamily="34" charset="-122"/>
                <a:cs typeface="Calibri" pitchFamily="34" charset="-120"/>
              </a:rPr>
              <a:t>Recommended</a:t>
            </a:r>
            <a:endParaRPr lang="en-US" sz="1200" dirty="0"/>
          </a:p>
        </p:txBody>
      </p:sp>
      <p:sp>
        <p:nvSpPr>
          <p:cNvPr id="7" name="Text 4"/>
          <p:cNvSpPr txBox="1"/>
          <p:nvPr/>
        </p:nvSpPr>
        <p:spPr>
          <a:xfrm>
            <a:off x="731520" y="3017520"/>
            <a:ext cx="1737360" cy="914400"/>
          </a:xfrm>
          <a:prstGeom prst="rect">
            <a:avLst/>
          </a:prstGeom>
          <a:noFill/>
          <a:ln/>
        </p:spPr>
        <p:txBody>
          <a:bodyPr wrap="square" lIns="0" tIns="0" rIns="0" bIns="0" rtlCol="0" anchor="t"/>
          <a:lstStyle/>
          <a:p>
            <a:pPr indent="0" marL="0">
              <a:buNone/>
            </a:pPr>
            <a:r>
              <a:rPr lang="en-US" sz="1500" dirty="0">
                <a:solidFill>
                  <a:srgbClr val="12141C"/>
                </a:solidFill>
                <a:latin typeface="Calibri" pitchFamily="34" charset="0"/>
                <a:ea typeface="Calibri" pitchFamily="34" charset="-122"/>
                <a:cs typeface="Calibri" pitchFamily="34" charset="-120"/>
              </a:rPr>
              <a:t>Triangle, Tree, Lunges</a:t>
            </a:r>
            <a:endParaRPr lang="en-US" sz="1500" dirty="0"/>
          </a:p>
        </p:txBody>
      </p:sp>
      <p:sp>
        <p:nvSpPr>
          <p:cNvPr id="8" name="Shape 5"/>
          <p:cNvSpPr/>
          <p:nvPr/>
        </p:nvSpPr>
        <p:spPr>
          <a:xfrm>
            <a:off x="2788920" y="1645920"/>
            <a:ext cx="2103120" cy="2468880"/>
          </a:xfrm>
          <a:prstGeom prst="roundRect">
            <a:avLst>
              <a:gd name="adj" fmla="val 5217"/>
            </a:avLst>
          </a:prstGeom>
          <a:solidFill>
            <a:srgbClr val="F3F4F7"/>
          </a:solidFill>
          <a:ln w="12700">
            <a:solidFill>
              <a:srgbClr val="F3F4F7"/>
            </a:solidFill>
            <a:prstDash val="solid"/>
          </a:ln>
        </p:spPr>
      </p:sp>
      <p:sp>
        <p:nvSpPr>
          <p:cNvPr id="9" name="Text 6"/>
          <p:cNvSpPr txBox="1"/>
          <p:nvPr/>
        </p:nvSpPr>
        <p:spPr>
          <a:xfrm>
            <a:off x="2971800" y="1828800"/>
            <a:ext cx="1737360" cy="822960"/>
          </a:xfrm>
          <a:prstGeom prst="rect">
            <a:avLst/>
          </a:prstGeom>
          <a:noFill/>
          <a:ln/>
        </p:spPr>
        <p:txBody>
          <a:bodyPr wrap="square" lIns="0" tIns="0" rIns="0" bIns="0" rtlCol="0" anchor="t"/>
          <a:lstStyle/>
          <a:p>
            <a:pPr indent="0" marL="0">
              <a:buNone/>
            </a:pPr>
            <a:r>
              <a:rPr lang="en-US" sz="2000" b="1" dirty="0">
                <a:solidFill>
                  <a:srgbClr val="12141C"/>
                </a:solidFill>
                <a:latin typeface="Cambria" pitchFamily="34" charset="0"/>
                <a:ea typeface="Cambria" pitchFamily="34" charset="-122"/>
                <a:cs typeface="Cambria" pitchFamily="34" charset="-120"/>
              </a:rPr>
              <a:t>Bow legs</a:t>
            </a:r>
            <a:endParaRPr lang="en-US" sz="2000" dirty="0"/>
          </a:p>
        </p:txBody>
      </p:sp>
      <p:sp>
        <p:nvSpPr>
          <p:cNvPr id="10" name="Text 7"/>
          <p:cNvSpPr txBox="1"/>
          <p:nvPr/>
        </p:nvSpPr>
        <p:spPr>
          <a:xfrm>
            <a:off x="2971800" y="2743200"/>
            <a:ext cx="1737360" cy="274320"/>
          </a:xfrm>
          <a:prstGeom prst="rect">
            <a:avLst/>
          </a:prstGeom>
          <a:noFill/>
          <a:ln/>
        </p:spPr>
        <p:txBody>
          <a:bodyPr wrap="square" lIns="0" tIns="0" rIns="0" bIns="0" rtlCol="0" anchor="t"/>
          <a:lstStyle/>
          <a:p>
            <a:pPr indent="0" marL="0">
              <a:buNone/>
            </a:pPr>
            <a:r>
              <a:rPr lang="en-US" sz="1200" b="1" dirty="0">
                <a:solidFill>
                  <a:srgbClr val="8A90A6"/>
                </a:solidFill>
                <a:latin typeface="Calibri" pitchFamily="34" charset="0"/>
                <a:ea typeface="Calibri" pitchFamily="34" charset="-122"/>
                <a:cs typeface="Calibri" pitchFamily="34" charset="-120"/>
              </a:rPr>
              <a:t>Recommended</a:t>
            </a:r>
            <a:endParaRPr lang="en-US" sz="1200" dirty="0"/>
          </a:p>
        </p:txBody>
      </p:sp>
      <p:sp>
        <p:nvSpPr>
          <p:cNvPr id="11" name="Text 8"/>
          <p:cNvSpPr txBox="1"/>
          <p:nvPr/>
        </p:nvSpPr>
        <p:spPr>
          <a:xfrm>
            <a:off x="2971800" y="3017520"/>
            <a:ext cx="1737360" cy="914400"/>
          </a:xfrm>
          <a:prstGeom prst="rect">
            <a:avLst/>
          </a:prstGeom>
          <a:noFill/>
          <a:ln/>
        </p:spPr>
        <p:txBody>
          <a:bodyPr wrap="square" lIns="0" tIns="0" rIns="0" bIns="0" rtlCol="0" anchor="t"/>
          <a:lstStyle/>
          <a:p>
            <a:pPr indent="0" marL="0">
              <a:buNone/>
            </a:pPr>
            <a:r>
              <a:rPr lang="en-US" sz="1500" dirty="0">
                <a:solidFill>
                  <a:srgbClr val="12141C"/>
                </a:solidFill>
                <a:latin typeface="Calibri" pitchFamily="34" charset="0"/>
                <a:ea typeface="Calibri" pitchFamily="34" charset="-122"/>
                <a:cs typeface="Calibri" pitchFamily="34" charset="-120"/>
              </a:rPr>
              <a:t>Lunges, Tree, Cobra</a:t>
            </a:r>
            <a:endParaRPr lang="en-US" sz="1500" dirty="0"/>
          </a:p>
        </p:txBody>
      </p:sp>
      <p:sp>
        <p:nvSpPr>
          <p:cNvPr id="12" name="Shape 9"/>
          <p:cNvSpPr/>
          <p:nvPr/>
        </p:nvSpPr>
        <p:spPr>
          <a:xfrm>
            <a:off x="5029200" y="1645920"/>
            <a:ext cx="2103120" cy="2468880"/>
          </a:xfrm>
          <a:prstGeom prst="roundRect">
            <a:avLst>
              <a:gd name="adj" fmla="val 5217"/>
            </a:avLst>
          </a:prstGeom>
          <a:solidFill>
            <a:srgbClr val="F3F4F7"/>
          </a:solidFill>
          <a:ln w="12700">
            <a:solidFill>
              <a:srgbClr val="F3F4F7"/>
            </a:solidFill>
            <a:prstDash val="solid"/>
          </a:ln>
        </p:spPr>
      </p:sp>
      <p:sp>
        <p:nvSpPr>
          <p:cNvPr id="13" name="Text 10"/>
          <p:cNvSpPr txBox="1"/>
          <p:nvPr/>
        </p:nvSpPr>
        <p:spPr>
          <a:xfrm>
            <a:off x="5212080" y="1828800"/>
            <a:ext cx="1737360" cy="822960"/>
          </a:xfrm>
          <a:prstGeom prst="rect">
            <a:avLst/>
          </a:prstGeom>
          <a:noFill/>
          <a:ln/>
        </p:spPr>
        <p:txBody>
          <a:bodyPr wrap="square" lIns="0" tIns="0" rIns="0" bIns="0" rtlCol="0" anchor="t"/>
          <a:lstStyle/>
          <a:p>
            <a:pPr indent="0" marL="0">
              <a:buNone/>
            </a:pPr>
            <a:r>
              <a:rPr lang="en-US" sz="2000" b="1" dirty="0">
                <a:solidFill>
                  <a:srgbClr val="12141C"/>
                </a:solidFill>
                <a:latin typeface="Cambria" pitchFamily="34" charset="0"/>
                <a:ea typeface="Cambria" pitchFamily="34" charset="-122"/>
                <a:cs typeface="Cambria" pitchFamily="34" charset="-120"/>
              </a:rPr>
              <a:t>Flat feet</a:t>
            </a:r>
            <a:endParaRPr lang="en-US" sz="2000" dirty="0"/>
          </a:p>
        </p:txBody>
      </p:sp>
      <p:sp>
        <p:nvSpPr>
          <p:cNvPr id="14" name="Text 11"/>
          <p:cNvSpPr txBox="1"/>
          <p:nvPr/>
        </p:nvSpPr>
        <p:spPr>
          <a:xfrm>
            <a:off x="5212080" y="2743200"/>
            <a:ext cx="1737360" cy="274320"/>
          </a:xfrm>
          <a:prstGeom prst="rect">
            <a:avLst/>
          </a:prstGeom>
          <a:noFill/>
          <a:ln/>
        </p:spPr>
        <p:txBody>
          <a:bodyPr wrap="square" lIns="0" tIns="0" rIns="0" bIns="0" rtlCol="0" anchor="t"/>
          <a:lstStyle/>
          <a:p>
            <a:pPr indent="0" marL="0">
              <a:buNone/>
            </a:pPr>
            <a:r>
              <a:rPr lang="en-US" sz="1200" b="1" dirty="0">
                <a:solidFill>
                  <a:srgbClr val="8A90A6"/>
                </a:solidFill>
                <a:latin typeface="Calibri" pitchFamily="34" charset="0"/>
                <a:ea typeface="Calibri" pitchFamily="34" charset="-122"/>
                <a:cs typeface="Calibri" pitchFamily="34" charset="-120"/>
              </a:rPr>
              <a:t>Recommended</a:t>
            </a:r>
            <a:endParaRPr lang="en-US" sz="1200" dirty="0"/>
          </a:p>
        </p:txBody>
      </p:sp>
      <p:sp>
        <p:nvSpPr>
          <p:cNvPr id="15" name="Text 12"/>
          <p:cNvSpPr txBox="1"/>
          <p:nvPr/>
        </p:nvSpPr>
        <p:spPr>
          <a:xfrm>
            <a:off x="5212080" y="3017520"/>
            <a:ext cx="1737360" cy="914400"/>
          </a:xfrm>
          <a:prstGeom prst="rect">
            <a:avLst/>
          </a:prstGeom>
          <a:noFill/>
          <a:ln/>
        </p:spPr>
        <p:txBody>
          <a:bodyPr wrap="square" lIns="0" tIns="0" rIns="0" bIns="0" rtlCol="0" anchor="t"/>
          <a:lstStyle/>
          <a:p>
            <a:pPr indent="0" marL="0">
              <a:buNone/>
            </a:pPr>
            <a:r>
              <a:rPr lang="en-US" sz="1500" dirty="0">
                <a:solidFill>
                  <a:srgbClr val="12141C"/>
                </a:solidFill>
                <a:latin typeface="Calibri" pitchFamily="34" charset="0"/>
                <a:ea typeface="Calibri" pitchFamily="34" charset="-122"/>
                <a:cs typeface="Calibri" pitchFamily="34" charset="-120"/>
              </a:rPr>
              <a:t>Tree, Cobra, Push-ups</a:t>
            </a:r>
            <a:endParaRPr lang="en-US" sz="1500" dirty="0"/>
          </a:p>
        </p:txBody>
      </p:sp>
      <p:sp>
        <p:nvSpPr>
          <p:cNvPr id="16" name="Shape 13"/>
          <p:cNvSpPr/>
          <p:nvPr/>
        </p:nvSpPr>
        <p:spPr>
          <a:xfrm>
            <a:off x="7269480" y="1645920"/>
            <a:ext cx="2103120" cy="2468880"/>
          </a:xfrm>
          <a:prstGeom prst="roundRect">
            <a:avLst>
              <a:gd name="adj" fmla="val 5217"/>
            </a:avLst>
          </a:prstGeom>
          <a:solidFill>
            <a:srgbClr val="F3F4F7"/>
          </a:solidFill>
          <a:ln w="12700">
            <a:solidFill>
              <a:srgbClr val="F3F4F7"/>
            </a:solidFill>
            <a:prstDash val="solid"/>
          </a:ln>
        </p:spPr>
      </p:sp>
      <p:sp>
        <p:nvSpPr>
          <p:cNvPr id="17" name="Text 14"/>
          <p:cNvSpPr txBox="1"/>
          <p:nvPr/>
        </p:nvSpPr>
        <p:spPr>
          <a:xfrm>
            <a:off x="7452360" y="1828800"/>
            <a:ext cx="1737360" cy="822960"/>
          </a:xfrm>
          <a:prstGeom prst="rect">
            <a:avLst/>
          </a:prstGeom>
          <a:noFill/>
          <a:ln/>
        </p:spPr>
        <p:txBody>
          <a:bodyPr wrap="square" lIns="0" tIns="0" rIns="0" bIns="0" rtlCol="0" anchor="t"/>
          <a:lstStyle/>
          <a:p>
            <a:pPr indent="0" marL="0">
              <a:buNone/>
            </a:pPr>
            <a:r>
              <a:rPr lang="en-US" sz="2000" b="1" dirty="0">
                <a:solidFill>
                  <a:srgbClr val="12141C"/>
                </a:solidFill>
                <a:latin typeface="Cambria" pitchFamily="34" charset="0"/>
                <a:ea typeface="Cambria" pitchFamily="34" charset="-122"/>
                <a:cs typeface="Cambria" pitchFamily="34" charset="-120"/>
              </a:rPr>
              <a:t>Lower back pain</a:t>
            </a:r>
            <a:endParaRPr lang="en-US" sz="2000" dirty="0"/>
          </a:p>
        </p:txBody>
      </p:sp>
      <p:sp>
        <p:nvSpPr>
          <p:cNvPr id="18" name="Text 15"/>
          <p:cNvSpPr txBox="1"/>
          <p:nvPr/>
        </p:nvSpPr>
        <p:spPr>
          <a:xfrm>
            <a:off x="7452360" y="2743200"/>
            <a:ext cx="1737360" cy="274320"/>
          </a:xfrm>
          <a:prstGeom prst="rect">
            <a:avLst/>
          </a:prstGeom>
          <a:noFill/>
          <a:ln/>
        </p:spPr>
        <p:txBody>
          <a:bodyPr wrap="square" lIns="0" tIns="0" rIns="0" bIns="0" rtlCol="0" anchor="t"/>
          <a:lstStyle/>
          <a:p>
            <a:pPr indent="0" marL="0">
              <a:buNone/>
            </a:pPr>
            <a:r>
              <a:rPr lang="en-US" sz="1200" b="1" dirty="0">
                <a:solidFill>
                  <a:srgbClr val="8A90A6"/>
                </a:solidFill>
                <a:latin typeface="Calibri" pitchFamily="34" charset="0"/>
                <a:ea typeface="Calibri" pitchFamily="34" charset="-122"/>
                <a:cs typeface="Calibri" pitchFamily="34" charset="-120"/>
              </a:rPr>
              <a:t>Recommended</a:t>
            </a:r>
            <a:endParaRPr lang="en-US" sz="1200" dirty="0"/>
          </a:p>
        </p:txBody>
      </p:sp>
      <p:sp>
        <p:nvSpPr>
          <p:cNvPr id="19" name="Text 16"/>
          <p:cNvSpPr txBox="1"/>
          <p:nvPr/>
        </p:nvSpPr>
        <p:spPr>
          <a:xfrm>
            <a:off x="7452360" y="3017520"/>
            <a:ext cx="1737360" cy="914400"/>
          </a:xfrm>
          <a:prstGeom prst="rect">
            <a:avLst/>
          </a:prstGeom>
          <a:noFill/>
          <a:ln/>
        </p:spPr>
        <p:txBody>
          <a:bodyPr wrap="square" lIns="0" tIns="0" rIns="0" bIns="0" rtlCol="0" anchor="t"/>
          <a:lstStyle/>
          <a:p>
            <a:pPr indent="0" marL="0">
              <a:buNone/>
            </a:pPr>
            <a:r>
              <a:rPr lang="en-US" sz="1500" dirty="0">
                <a:solidFill>
                  <a:srgbClr val="12141C"/>
                </a:solidFill>
                <a:latin typeface="Calibri" pitchFamily="34" charset="0"/>
                <a:ea typeface="Calibri" pitchFamily="34" charset="-122"/>
                <a:cs typeface="Calibri" pitchFamily="34" charset="-120"/>
              </a:rPr>
              <a:t>Cobra, Triangle, Crunches</a:t>
            </a:r>
            <a:endParaRPr lang="en-US" sz="1500" dirty="0"/>
          </a:p>
        </p:txBody>
      </p:sp>
      <p:sp>
        <p:nvSpPr>
          <p:cNvPr id="20" name="Shape 17"/>
          <p:cNvSpPr/>
          <p:nvPr/>
        </p:nvSpPr>
        <p:spPr>
          <a:xfrm>
            <a:off x="9509760" y="1645920"/>
            <a:ext cx="2103120" cy="2468880"/>
          </a:xfrm>
          <a:prstGeom prst="roundRect">
            <a:avLst>
              <a:gd name="adj" fmla="val 5217"/>
            </a:avLst>
          </a:prstGeom>
          <a:solidFill>
            <a:srgbClr val="F3F4F7"/>
          </a:solidFill>
          <a:ln w="12700">
            <a:solidFill>
              <a:srgbClr val="F3F4F7"/>
            </a:solidFill>
            <a:prstDash val="solid"/>
          </a:ln>
        </p:spPr>
      </p:sp>
      <p:sp>
        <p:nvSpPr>
          <p:cNvPr id="21" name="Text 18"/>
          <p:cNvSpPr txBox="1"/>
          <p:nvPr/>
        </p:nvSpPr>
        <p:spPr>
          <a:xfrm>
            <a:off x="9692640" y="1828800"/>
            <a:ext cx="1737360" cy="822960"/>
          </a:xfrm>
          <a:prstGeom prst="rect">
            <a:avLst/>
          </a:prstGeom>
          <a:noFill/>
          <a:ln/>
        </p:spPr>
        <p:txBody>
          <a:bodyPr wrap="square" lIns="0" tIns="0" rIns="0" bIns="0" rtlCol="0" anchor="t"/>
          <a:lstStyle/>
          <a:p>
            <a:pPr indent="0" marL="0">
              <a:buNone/>
            </a:pPr>
            <a:r>
              <a:rPr lang="en-US" sz="2000" b="1" dirty="0">
                <a:solidFill>
                  <a:srgbClr val="12141C"/>
                </a:solidFill>
                <a:latin typeface="Cambria" pitchFamily="34" charset="0"/>
                <a:ea typeface="Cambria" pitchFamily="34" charset="-122"/>
                <a:cs typeface="Cambria" pitchFamily="34" charset="-120"/>
              </a:rPr>
              <a:t>Rounded shoulders</a:t>
            </a:r>
            <a:endParaRPr lang="en-US" sz="2000" dirty="0"/>
          </a:p>
        </p:txBody>
      </p:sp>
      <p:sp>
        <p:nvSpPr>
          <p:cNvPr id="22" name="Text 19"/>
          <p:cNvSpPr txBox="1"/>
          <p:nvPr/>
        </p:nvSpPr>
        <p:spPr>
          <a:xfrm>
            <a:off x="9692640" y="2743200"/>
            <a:ext cx="1737360" cy="274320"/>
          </a:xfrm>
          <a:prstGeom prst="rect">
            <a:avLst/>
          </a:prstGeom>
          <a:noFill/>
          <a:ln/>
        </p:spPr>
        <p:txBody>
          <a:bodyPr wrap="square" lIns="0" tIns="0" rIns="0" bIns="0" rtlCol="0" anchor="t"/>
          <a:lstStyle/>
          <a:p>
            <a:pPr indent="0" marL="0">
              <a:buNone/>
            </a:pPr>
            <a:r>
              <a:rPr lang="en-US" sz="1200" b="1" dirty="0">
                <a:solidFill>
                  <a:srgbClr val="8A90A6"/>
                </a:solidFill>
                <a:latin typeface="Calibri" pitchFamily="34" charset="0"/>
                <a:ea typeface="Calibri" pitchFamily="34" charset="-122"/>
                <a:cs typeface="Calibri" pitchFamily="34" charset="-120"/>
              </a:rPr>
              <a:t>Recommended</a:t>
            </a:r>
            <a:endParaRPr lang="en-US" sz="1200" dirty="0"/>
          </a:p>
        </p:txBody>
      </p:sp>
      <p:sp>
        <p:nvSpPr>
          <p:cNvPr id="23" name="Text 20"/>
          <p:cNvSpPr txBox="1"/>
          <p:nvPr/>
        </p:nvSpPr>
        <p:spPr>
          <a:xfrm>
            <a:off x="9692640" y="3017520"/>
            <a:ext cx="1737360" cy="914400"/>
          </a:xfrm>
          <a:prstGeom prst="rect">
            <a:avLst/>
          </a:prstGeom>
          <a:noFill/>
          <a:ln/>
        </p:spPr>
        <p:txBody>
          <a:bodyPr wrap="square" lIns="0" tIns="0" rIns="0" bIns="0" rtlCol="0" anchor="t"/>
          <a:lstStyle/>
          <a:p>
            <a:pPr indent="0" marL="0">
              <a:buNone/>
            </a:pPr>
            <a:r>
              <a:rPr lang="en-US" sz="1500" dirty="0">
                <a:solidFill>
                  <a:srgbClr val="12141C"/>
                </a:solidFill>
                <a:latin typeface="Calibri" pitchFamily="34" charset="0"/>
                <a:ea typeface="Calibri" pitchFamily="34" charset="-122"/>
                <a:cs typeface="Calibri" pitchFamily="34" charset="-120"/>
              </a:rPr>
              <a:t>Cobra, Triangle, Tree</a:t>
            </a:r>
            <a:endParaRPr lang="en-US" sz="1500" dirty="0"/>
          </a:p>
        </p:txBody>
      </p:sp>
      <p:sp>
        <p:nvSpPr>
          <p:cNvPr id="24" name="Text 21"/>
          <p:cNvSpPr txBox="1"/>
          <p:nvPr/>
        </p:nvSpPr>
        <p:spPr>
          <a:xfrm>
            <a:off x="548640" y="4572000"/>
            <a:ext cx="10972800" cy="457200"/>
          </a:xfrm>
          <a:prstGeom prst="rect">
            <a:avLst/>
          </a:prstGeom>
          <a:noFill/>
          <a:ln/>
        </p:spPr>
        <p:txBody>
          <a:bodyPr wrap="square" lIns="0" tIns="0" rIns="0" bIns="0" rtlCol="0" anchor="t"/>
          <a:lstStyle/>
          <a:p>
            <a:pPr indent="0" marL="0">
              <a:buNone/>
            </a:pPr>
            <a:r>
              <a:rPr lang="en-US" sz="1800" dirty="0">
                <a:solidFill>
                  <a:srgbClr val="12141C"/>
                </a:solidFill>
                <a:latin typeface="Calibri" pitchFamily="34" charset="0"/>
                <a:ea typeface="Calibri" pitchFamily="34" charset="-122"/>
                <a:cs typeface="Calibri" pitchFamily="34" charset="-120"/>
              </a:rPr>
              <a:t>Six checks: shoulder level, hip tilt, knee axis, head tilt, forward head, torso lean.</a:t>
            </a:r>
            <a:endParaRPr lang="en-US" sz="1800" dirty="0"/>
          </a:p>
        </p:txBody>
      </p:sp>
      <p:sp>
        <p:nvSpPr>
          <p:cNvPr id="25" name="Text 22"/>
          <p:cNvSpPr txBox="1"/>
          <p:nvPr/>
        </p:nvSpPr>
        <p:spPr>
          <a:xfrm>
            <a:off x="548640" y="5120640"/>
            <a:ext cx="10972800" cy="457200"/>
          </a:xfrm>
          <a:prstGeom prst="rect">
            <a:avLst/>
          </a:prstGeom>
          <a:noFill/>
          <a:ln/>
        </p:spPr>
        <p:txBody>
          <a:bodyPr wrap="square" lIns="0" tIns="0" rIns="0" bIns="0" rtlCol="0" anchor="t"/>
          <a:lstStyle/>
          <a:p>
            <a:pPr indent="0" marL="0">
              <a:buNone/>
            </a:pPr>
            <a:r>
              <a:rPr lang="en-US" sz="1800" b="1" dirty="0">
                <a:solidFill>
                  <a:srgbClr val="FF6A2B"/>
                </a:solidFill>
                <a:latin typeface="Calibri" pitchFamily="34" charset="0"/>
                <a:ea typeface="Calibri" pitchFamily="34" charset="-122"/>
                <a:cs typeface="Calibri" pitchFamily="34" charset="-120"/>
              </a:rPr>
              <a:t>Results are screening patterns from landmark geometry, not medical advice.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1C"/>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Under the hood</a:t>
            </a:r>
            <a:endParaRPr lang="en-US" sz="3800" dirty="0"/>
          </a:p>
        </p:txBody>
      </p:sp>
      <p:sp>
        <p:nvSpPr>
          <p:cNvPr id="4" name="Shape 1"/>
          <p:cNvSpPr/>
          <p:nvPr/>
        </p:nvSpPr>
        <p:spPr>
          <a:xfrm>
            <a:off x="548640" y="1463040"/>
            <a:ext cx="11064240" cy="804672"/>
          </a:xfrm>
          <a:prstGeom prst="roundRect">
            <a:avLst>
              <a:gd name="adj" fmla="val 13636"/>
            </a:avLst>
          </a:prstGeom>
          <a:solidFill>
            <a:srgbClr val="1F2333"/>
          </a:solidFill>
          <a:ln w="12700">
            <a:solidFill>
              <a:srgbClr val="1F2333"/>
            </a:solidFill>
            <a:prstDash val="solid"/>
          </a:ln>
        </p:spPr>
      </p:sp>
      <p:sp>
        <p:nvSpPr>
          <p:cNvPr id="5" name="Text 2"/>
          <p:cNvSpPr txBox="1"/>
          <p:nvPr/>
        </p:nvSpPr>
        <p:spPr>
          <a:xfrm>
            <a:off x="822960" y="1508760"/>
            <a:ext cx="1828800" cy="713232"/>
          </a:xfrm>
          <a:prstGeom prst="rect">
            <a:avLst/>
          </a:prstGeom>
          <a:noFill/>
          <a:ln/>
        </p:spPr>
        <p:txBody>
          <a:bodyPr wrap="square" lIns="0" tIns="0" rIns="0" bIns="0" rtlCol="0" anchor="ctr"/>
          <a:lstStyle/>
          <a:p>
            <a:pPr indent="0" marL="0">
              <a:buNone/>
            </a:pPr>
            <a:r>
              <a:rPr lang="en-US" sz="2200" b="1" dirty="0">
                <a:solidFill>
                  <a:srgbClr val="FF6A2B"/>
                </a:solidFill>
                <a:latin typeface="Cambria" pitchFamily="34" charset="0"/>
                <a:ea typeface="Cambria" pitchFamily="34" charset="-122"/>
                <a:cs typeface="Cambria" pitchFamily="34" charset="-120"/>
              </a:rPr>
              <a:t>App</a:t>
            </a:r>
            <a:endParaRPr lang="en-US" sz="2200" dirty="0"/>
          </a:p>
        </p:txBody>
      </p:sp>
      <p:sp>
        <p:nvSpPr>
          <p:cNvPr id="6" name="Text 3"/>
          <p:cNvSpPr txBox="1"/>
          <p:nvPr/>
        </p:nvSpPr>
        <p:spPr>
          <a:xfrm>
            <a:off x="2743200" y="1508760"/>
            <a:ext cx="8595360" cy="713232"/>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React Native 0.86, Expo SDK 57, React 19, TypeScript, zustand</a:t>
            </a:r>
            <a:endParaRPr lang="en-US" sz="1800" dirty="0"/>
          </a:p>
        </p:txBody>
      </p:sp>
      <p:sp>
        <p:nvSpPr>
          <p:cNvPr id="7" name="Shape 4"/>
          <p:cNvSpPr/>
          <p:nvPr/>
        </p:nvSpPr>
        <p:spPr>
          <a:xfrm>
            <a:off x="548640" y="2377440"/>
            <a:ext cx="11064240" cy="804672"/>
          </a:xfrm>
          <a:prstGeom prst="roundRect">
            <a:avLst>
              <a:gd name="adj" fmla="val 13636"/>
            </a:avLst>
          </a:prstGeom>
          <a:solidFill>
            <a:srgbClr val="1F2333"/>
          </a:solidFill>
          <a:ln w="12700">
            <a:solidFill>
              <a:srgbClr val="1F2333"/>
            </a:solidFill>
            <a:prstDash val="solid"/>
          </a:ln>
        </p:spPr>
      </p:sp>
      <p:sp>
        <p:nvSpPr>
          <p:cNvPr id="8" name="Text 5"/>
          <p:cNvSpPr txBox="1"/>
          <p:nvPr/>
        </p:nvSpPr>
        <p:spPr>
          <a:xfrm>
            <a:off x="822960" y="2423160"/>
            <a:ext cx="1828800" cy="713232"/>
          </a:xfrm>
          <a:prstGeom prst="rect">
            <a:avLst/>
          </a:prstGeom>
          <a:noFill/>
          <a:ln/>
        </p:spPr>
        <p:txBody>
          <a:bodyPr wrap="square" lIns="0" tIns="0" rIns="0" bIns="0" rtlCol="0" anchor="ctr"/>
          <a:lstStyle/>
          <a:p>
            <a:pPr indent="0" marL="0">
              <a:buNone/>
            </a:pPr>
            <a:r>
              <a:rPr lang="en-US" sz="2200" b="1" dirty="0">
                <a:solidFill>
                  <a:srgbClr val="2EC4B6"/>
                </a:solidFill>
                <a:latin typeface="Cambria" pitchFamily="34" charset="0"/>
                <a:ea typeface="Cambria" pitchFamily="34" charset="-122"/>
                <a:cs typeface="Cambria" pitchFamily="34" charset="-120"/>
              </a:rPr>
              <a:t>Vision</a:t>
            </a:r>
            <a:endParaRPr lang="en-US" sz="2200" dirty="0"/>
          </a:p>
        </p:txBody>
      </p:sp>
      <p:sp>
        <p:nvSpPr>
          <p:cNvPr id="9" name="Text 6"/>
          <p:cNvSpPr txBox="1"/>
          <p:nvPr/>
        </p:nvSpPr>
        <p:spPr>
          <a:xfrm>
            <a:off x="2743200" y="2423160"/>
            <a:ext cx="8595360" cy="713232"/>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MediaPipe Pose JS in a WebView, offline via local asset server, ONNX for Tree Pose</a:t>
            </a:r>
            <a:endParaRPr lang="en-US" sz="1800" dirty="0"/>
          </a:p>
        </p:txBody>
      </p:sp>
      <p:sp>
        <p:nvSpPr>
          <p:cNvPr id="10" name="Shape 7"/>
          <p:cNvSpPr/>
          <p:nvPr/>
        </p:nvSpPr>
        <p:spPr>
          <a:xfrm>
            <a:off x="548640" y="3291840"/>
            <a:ext cx="11064240" cy="804672"/>
          </a:xfrm>
          <a:prstGeom prst="roundRect">
            <a:avLst>
              <a:gd name="adj" fmla="val 13636"/>
            </a:avLst>
          </a:prstGeom>
          <a:solidFill>
            <a:srgbClr val="1F2333"/>
          </a:solidFill>
          <a:ln w="12700">
            <a:solidFill>
              <a:srgbClr val="1F2333"/>
            </a:solidFill>
            <a:prstDash val="solid"/>
          </a:ln>
        </p:spPr>
      </p:sp>
      <p:sp>
        <p:nvSpPr>
          <p:cNvPr id="11" name="Text 8"/>
          <p:cNvSpPr txBox="1"/>
          <p:nvPr/>
        </p:nvSpPr>
        <p:spPr>
          <a:xfrm>
            <a:off x="822960" y="3337560"/>
            <a:ext cx="1828800" cy="713232"/>
          </a:xfrm>
          <a:prstGeom prst="rect">
            <a:avLst/>
          </a:prstGeom>
          <a:noFill/>
          <a:ln/>
        </p:spPr>
        <p:txBody>
          <a:bodyPr wrap="square" lIns="0" tIns="0" rIns="0" bIns="0" rtlCol="0" anchor="ctr"/>
          <a:lstStyle/>
          <a:p>
            <a:pPr indent="0" marL="0">
              <a:buNone/>
            </a:pPr>
            <a:r>
              <a:rPr lang="en-US" sz="2200" b="1" dirty="0">
                <a:solidFill>
                  <a:srgbClr val="7C5CFF"/>
                </a:solidFill>
                <a:latin typeface="Cambria" pitchFamily="34" charset="0"/>
                <a:ea typeface="Cambria" pitchFamily="34" charset="-122"/>
                <a:cs typeface="Cambria" pitchFamily="34" charset="-120"/>
              </a:rPr>
              <a:t>3D</a:t>
            </a:r>
            <a:endParaRPr lang="en-US" sz="2200" dirty="0"/>
          </a:p>
        </p:txBody>
      </p:sp>
      <p:sp>
        <p:nvSpPr>
          <p:cNvPr id="12" name="Text 9"/>
          <p:cNvSpPr txBox="1"/>
          <p:nvPr/>
        </p:nvSpPr>
        <p:spPr>
          <a:xfrm>
            <a:off x="2743200" y="3337560"/>
            <a:ext cx="8595360" cy="713232"/>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three.js, GLTF and VRM avatars in WebViews</a:t>
            </a:r>
            <a:endParaRPr lang="en-US" sz="1800" dirty="0"/>
          </a:p>
        </p:txBody>
      </p:sp>
      <p:sp>
        <p:nvSpPr>
          <p:cNvPr id="13" name="Shape 10"/>
          <p:cNvSpPr/>
          <p:nvPr/>
        </p:nvSpPr>
        <p:spPr>
          <a:xfrm>
            <a:off x="548640" y="4206240"/>
            <a:ext cx="11064240" cy="804672"/>
          </a:xfrm>
          <a:prstGeom prst="roundRect">
            <a:avLst>
              <a:gd name="adj" fmla="val 13636"/>
            </a:avLst>
          </a:prstGeom>
          <a:solidFill>
            <a:srgbClr val="1F2333"/>
          </a:solidFill>
          <a:ln w="12700">
            <a:solidFill>
              <a:srgbClr val="1F2333"/>
            </a:solidFill>
            <a:prstDash val="solid"/>
          </a:ln>
        </p:spPr>
      </p:sp>
      <p:sp>
        <p:nvSpPr>
          <p:cNvPr id="14" name="Text 11"/>
          <p:cNvSpPr txBox="1"/>
          <p:nvPr/>
        </p:nvSpPr>
        <p:spPr>
          <a:xfrm>
            <a:off x="822960" y="4251960"/>
            <a:ext cx="1828800" cy="713232"/>
          </a:xfrm>
          <a:prstGeom prst="rect">
            <a:avLst/>
          </a:prstGeom>
          <a:noFill/>
          <a:ln/>
        </p:spPr>
        <p:txBody>
          <a:bodyPr wrap="square" lIns="0" tIns="0" rIns="0" bIns="0" rtlCol="0" anchor="ctr"/>
          <a:lstStyle/>
          <a:p>
            <a:pPr indent="0" marL="0">
              <a:buNone/>
            </a:pPr>
            <a:r>
              <a:rPr lang="en-US" sz="2200" b="1" dirty="0">
                <a:solidFill>
                  <a:srgbClr val="FFC247"/>
                </a:solidFill>
                <a:latin typeface="Cambria" pitchFamily="34" charset="0"/>
                <a:ea typeface="Cambria" pitchFamily="34" charset="-122"/>
                <a:cs typeface="Cambria" pitchFamily="34" charset="-120"/>
              </a:rPr>
              <a:t>Backend</a:t>
            </a:r>
            <a:endParaRPr lang="en-US" sz="2200" dirty="0"/>
          </a:p>
        </p:txBody>
      </p:sp>
      <p:sp>
        <p:nvSpPr>
          <p:cNvPr id="15" name="Text 12"/>
          <p:cNvSpPr txBox="1"/>
          <p:nvPr/>
        </p:nvSpPr>
        <p:spPr>
          <a:xfrm>
            <a:off x="2743200" y="4251960"/>
            <a:ext cx="8595360" cy="713232"/>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Python FastAPI, WebSocket matchmaking and score sync</a:t>
            </a:r>
            <a:endParaRPr lang="en-US" sz="1800" dirty="0"/>
          </a:p>
        </p:txBody>
      </p:sp>
      <p:sp>
        <p:nvSpPr>
          <p:cNvPr id="16" name="Shape 13"/>
          <p:cNvSpPr/>
          <p:nvPr/>
        </p:nvSpPr>
        <p:spPr>
          <a:xfrm>
            <a:off x="548640" y="5120640"/>
            <a:ext cx="11064240" cy="804672"/>
          </a:xfrm>
          <a:prstGeom prst="roundRect">
            <a:avLst>
              <a:gd name="adj" fmla="val 13636"/>
            </a:avLst>
          </a:prstGeom>
          <a:solidFill>
            <a:srgbClr val="1F2333"/>
          </a:solidFill>
          <a:ln w="12700">
            <a:solidFill>
              <a:srgbClr val="1F2333"/>
            </a:solidFill>
            <a:prstDash val="solid"/>
          </a:ln>
        </p:spPr>
      </p:sp>
      <p:sp>
        <p:nvSpPr>
          <p:cNvPr id="17" name="Text 14"/>
          <p:cNvSpPr txBox="1"/>
          <p:nvPr/>
        </p:nvSpPr>
        <p:spPr>
          <a:xfrm>
            <a:off x="822960" y="5166360"/>
            <a:ext cx="1828800" cy="713232"/>
          </a:xfrm>
          <a:prstGeom prst="rect">
            <a:avLst/>
          </a:prstGeom>
          <a:noFill/>
          <a:ln/>
        </p:spPr>
        <p:txBody>
          <a:bodyPr wrap="square" lIns="0" tIns="0" rIns="0" bIns="0" rtlCol="0" anchor="ctr"/>
          <a:lstStyle/>
          <a:p>
            <a:pPr indent="0" marL="0">
              <a:buNone/>
            </a:pPr>
            <a:r>
              <a:rPr lang="en-US" sz="2200" b="1" dirty="0">
                <a:solidFill>
                  <a:srgbClr val="FF6A2B"/>
                </a:solidFill>
                <a:latin typeface="Cambria" pitchFamily="34" charset="0"/>
                <a:ea typeface="Cambria" pitchFamily="34" charset="-122"/>
                <a:cs typeface="Cambria" pitchFamily="34" charset="-120"/>
              </a:rPr>
              <a:t>Data</a:t>
            </a:r>
            <a:endParaRPr lang="en-US" sz="2200" dirty="0"/>
          </a:p>
        </p:txBody>
      </p:sp>
      <p:sp>
        <p:nvSpPr>
          <p:cNvPr id="18" name="Text 15"/>
          <p:cNvSpPr txBox="1"/>
          <p:nvPr/>
        </p:nvSpPr>
        <p:spPr>
          <a:xfrm>
            <a:off x="2743200" y="5166360"/>
            <a:ext cx="8595360" cy="713232"/>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Supabase: Postgres, Auth, Realtime, Storage, 28 migrations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41C"/>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Next: RAPTOR, our own 3D pose model</a:t>
            </a:r>
            <a:endParaRPr lang="en-US" sz="3800" dirty="0"/>
          </a:p>
        </p:txBody>
      </p:sp>
      <p:sp>
        <p:nvSpPr>
          <p:cNvPr id="4" name="Text 1"/>
          <p:cNvSpPr txBox="1"/>
          <p:nvPr/>
        </p:nvSpPr>
        <p:spPr>
          <a:xfrm>
            <a:off x="548640" y="1554480"/>
            <a:ext cx="3200400" cy="365760"/>
          </a:xfrm>
          <a:prstGeom prst="rect">
            <a:avLst/>
          </a:prstGeom>
          <a:noFill/>
          <a:ln/>
        </p:spPr>
        <p:txBody>
          <a:bodyPr wrap="square" lIns="0" tIns="0" rIns="0" bIns="0" rtlCol="0" anchor="t"/>
          <a:lstStyle/>
          <a:p>
            <a:pPr indent="0" marL="0">
              <a:buNone/>
            </a:pPr>
            <a:r>
              <a:rPr lang="en-US" sz="1600" b="1" dirty="0">
                <a:solidFill>
                  <a:srgbClr val="8A90A6"/>
                </a:solidFill>
                <a:latin typeface="Calibri" pitchFamily="34" charset="0"/>
                <a:ea typeface="Calibri" pitchFamily="34" charset="-122"/>
                <a:cs typeface="Calibri" pitchFamily="34" charset="-120"/>
              </a:rPr>
              <a:t>Teacher</a:t>
            </a:r>
            <a:endParaRPr lang="en-US" sz="1600" dirty="0"/>
          </a:p>
        </p:txBody>
      </p:sp>
      <p:sp>
        <p:nvSpPr>
          <p:cNvPr id="5" name="Shape 2"/>
          <p:cNvSpPr/>
          <p:nvPr/>
        </p:nvSpPr>
        <p:spPr>
          <a:xfrm>
            <a:off x="548640" y="1920240"/>
            <a:ext cx="3291840" cy="1554480"/>
          </a:xfrm>
          <a:prstGeom prst="roundRect">
            <a:avLst>
              <a:gd name="adj" fmla="val 7059"/>
            </a:avLst>
          </a:prstGeom>
          <a:solidFill>
            <a:srgbClr val="1F2333"/>
          </a:solidFill>
          <a:ln w="12700">
            <a:solidFill>
              <a:srgbClr val="1F2333"/>
            </a:solidFill>
            <a:prstDash val="solid"/>
          </a:ln>
        </p:spPr>
      </p:sp>
      <p:sp>
        <p:nvSpPr>
          <p:cNvPr id="6" name="Text 3"/>
          <p:cNvSpPr txBox="1"/>
          <p:nvPr/>
        </p:nvSpPr>
        <p:spPr>
          <a:xfrm>
            <a:off x="777240" y="2103120"/>
            <a:ext cx="292608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SAM 3D Body</a:t>
            </a:r>
            <a:endParaRPr lang="en-US" sz="2400" dirty="0"/>
          </a:p>
        </p:txBody>
      </p:sp>
      <p:sp>
        <p:nvSpPr>
          <p:cNvPr id="7" name="Text 4"/>
          <p:cNvSpPr txBox="1"/>
          <p:nvPr/>
        </p:nvSpPr>
        <p:spPr>
          <a:xfrm>
            <a:off x="777240" y="2743200"/>
            <a:ext cx="2926080" cy="640080"/>
          </a:xfrm>
          <a:prstGeom prst="rect">
            <a:avLst/>
          </a:prstGeom>
          <a:noFill/>
          <a:ln/>
        </p:spPr>
        <p:txBody>
          <a:bodyPr wrap="square" lIns="0" tIns="0" rIns="0" bIns="0" rtlCol="0" anchor="t"/>
          <a:lstStyle/>
          <a:p>
            <a:pPr indent="0" marL="0">
              <a:buNone/>
            </a:pPr>
            <a:r>
              <a:rPr lang="en-US" sz="1500" dirty="0">
                <a:solidFill>
                  <a:srgbClr val="C9CCD8"/>
                </a:solidFill>
                <a:latin typeface="Calibri" pitchFamily="34" charset="0"/>
                <a:ea typeface="Calibri" pitchFamily="34" charset="-122"/>
                <a:cs typeface="Calibri" pitchFamily="34" charset="-120"/>
              </a:rPr>
              <a:t>by Meta, about 2 GB, offline labelling only</a:t>
            </a:r>
            <a:endParaRPr lang="en-US" sz="1500" dirty="0"/>
          </a:p>
        </p:txBody>
      </p:sp>
      <p:sp>
        <p:nvSpPr>
          <p:cNvPr id="8" name="Text 5"/>
          <p:cNvSpPr txBox="1"/>
          <p:nvPr/>
        </p:nvSpPr>
        <p:spPr>
          <a:xfrm>
            <a:off x="3840480" y="2468880"/>
            <a:ext cx="1280160" cy="365760"/>
          </a:xfrm>
          <a:prstGeom prst="rect">
            <a:avLst/>
          </a:prstGeom>
          <a:noFill/>
          <a:ln/>
        </p:spPr>
        <p:txBody>
          <a:bodyPr wrap="square" lIns="0" tIns="0" rIns="0" bIns="0" rtlCol="0" anchor="t"/>
          <a:lstStyle/>
          <a:p>
            <a:pPr algn="ctr" indent="0" marL="0">
              <a:buNone/>
            </a:pPr>
            <a:r>
              <a:rPr lang="en-US" sz="1400" b="1" dirty="0">
                <a:solidFill>
                  <a:srgbClr val="FF6A2B"/>
                </a:solidFill>
                <a:latin typeface="Calibri" pitchFamily="34" charset="0"/>
                <a:ea typeface="Calibri" pitchFamily="34" charset="-122"/>
                <a:cs typeface="Calibri" pitchFamily="34" charset="-120"/>
              </a:rPr>
              <a:t>learns from</a:t>
            </a:r>
            <a:endParaRPr lang="en-US" sz="1400" dirty="0"/>
          </a:p>
        </p:txBody>
      </p:sp>
      <p:sp>
        <p:nvSpPr>
          <p:cNvPr id="9" name="Text 6"/>
          <p:cNvSpPr txBox="1"/>
          <p:nvPr/>
        </p:nvSpPr>
        <p:spPr>
          <a:xfrm>
            <a:off x="3840480" y="2743200"/>
            <a:ext cx="1280160" cy="457200"/>
          </a:xfrm>
          <a:prstGeom prst="rect">
            <a:avLst/>
          </a:prstGeom>
          <a:noFill/>
          <a:ln/>
        </p:spPr>
        <p:txBody>
          <a:bodyPr wrap="square" lIns="0" tIns="0" rIns="0" bIns="0" rtlCol="0" anchor="t"/>
          <a:lstStyle/>
          <a:p>
            <a:pPr algn="ctr" indent="0" marL="0">
              <a:buNone/>
            </a:pPr>
            <a:r>
              <a:rPr lang="en-US" sz="2600" b="1" dirty="0">
                <a:solidFill>
                  <a:srgbClr val="FF6A2B"/>
                </a:solidFill>
                <a:latin typeface="Calibri" pitchFamily="34" charset="0"/>
                <a:ea typeface="Calibri" pitchFamily="34" charset="-122"/>
                <a:cs typeface="Calibri" pitchFamily="34" charset="-120"/>
              </a:rPr>
              <a:t>&gt;&gt;</a:t>
            </a:r>
            <a:endParaRPr lang="en-US" sz="2600" dirty="0"/>
          </a:p>
        </p:txBody>
      </p:sp>
      <p:sp>
        <p:nvSpPr>
          <p:cNvPr id="10" name="Text 7"/>
          <p:cNvSpPr txBox="1"/>
          <p:nvPr/>
        </p:nvSpPr>
        <p:spPr>
          <a:xfrm>
            <a:off x="5212080" y="1554480"/>
            <a:ext cx="3200400" cy="365760"/>
          </a:xfrm>
          <a:prstGeom prst="rect">
            <a:avLst/>
          </a:prstGeom>
          <a:noFill/>
          <a:ln/>
        </p:spPr>
        <p:txBody>
          <a:bodyPr wrap="square" lIns="0" tIns="0" rIns="0" bIns="0" rtlCol="0" anchor="t"/>
          <a:lstStyle/>
          <a:p>
            <a:pPr indent="0" marL="0">
              <a:buNone/>
            </a:pPr>
            <a:r>
              <a:rPr lang="en-US" sz="1600" b="1" dirty="0">
                <a:solidFill>
                  <a:srgbClr val="8A90A6"/>
                </a:solidFill>
                <a:latin typeface="Calibri" pitchFamily="34" charset="0"/>
                <a:ea typeface="Calibri" pitchFamily="34" charset="-122"/>
                <a:cs typeface="Calibri" pitchFamily="34" charset="-120"/>
              </a:rPr>
              <a:t>Student</a:t>
            </a:r>
            <a:endParaRPr lang="en-US" sz="1600" dirty="0"/>
          </a:p>
        </p:txBody>
      </p:sp>
      <p:sp>
        <p:nvSpPr>
          <p:cNvPr id="11" name="Shape 8"/>
          <p:cNvSpPr/>
          <p:nvPr/>
        </p:nvSpPr>
        <p:spPr>
          <a:xfrm>
            <a:off x="5212080" y="1920240"/>
            <a:ext cx="3291840" cy="1554480"/>
          </a:xfrm>
          <a:prstGeom prst="roundRect">
            <a:avLst>
              <a:gd name="adj" fmla="val 7059"/>
            </a:avLst>
          </a:prstGeom>
          <a:solidFill>
            <a:srgbClr val="FF6A2B"/>
          </a:solidFill>
          <a:ln w="12700">
            <a:solidFill>
              <a:srgbClr val="FF6A2B"/>
            </a:solidFill>
            <a:prstDash val="solid"/>
          </a:ln>
        </p:spPr>
      </p:sp>
      <p:sp>
        <p:nvSpPr>
          <p:cNvPr id="12" name="Text 9"/>
          <p:cNvSpPr txBox="1"/>
          <p:nvPr/>
        </p:nvSpPr>
        <p:spPr>
          <a:xfrm>
            <a:off x="5440680" y="2103120"/>
            <a:ext cx="2926080" cy="548640"/>
          </a:xfrm>
          <a:prstGeom prst="rect">
            <a:avLst/>
          </a:prstGeom>
          <a:noFill/>
          <a:ln/>
        </p:spPr>
        <p:txBody>
          <a:bodyPr wrap="square" lIns="0" tIns="0" rIns="0" bIns="0" rtlCol="0" anchor="t"/>
          <a:lstStyle/>
          <a:p>
            <a:pPr indent="0" marL="0">
              <a:buNone/>
            </a:pPr>
            <a:r>
              <a:rPr lang="en-US" sz="2400" b="1" dirty="0">
                <a:solidFill>
                  <a:srgbClr val="12141C"/>
                </a:solidFill>
                <a:latin typeface="Cambria" pitchFamily="34" charset="0"/>
                <a:ea typeface="Cambria" pitchFamily="34" charset="-122"/>
                <a:cs typeface="Cambria" pitchFamily="34" charset="-120"/>
              </a:rPr>
              <a:t>RAPTOR</a:t>
            </a:r>
            <a:endParaRPr lang="en-US" sz="2400" dirty="0"/>
          </a:p>
        </p:txBody>
      </p:sp>
      <p:sp>
        <p:nvSpPr>
          <p:cNvPr id="13" name="Text 10"/>
          <p:cNvSpPr txBox="1"/>
          <p:nvPr/>
        </p:nvSpPr>
        <p:spPr>
          <a:xfrm>
            <a:off x="5440680" y="2743200"/>
            <a:ext cx="2926080" cy="640080"/>
          </a:xfrm>
          <a:prstGeom prst="rect">
            <a:avLst/>
          </a:prstGeom>
          <a:noFill/>
          <a:ln/>
        </p:spPr>
        <p:txBody>
          <a:bodyPr wrap="square" lIns="0" tIns="0" rIns="0" bIns="0" rtlCol="0" anchor="t"/>
          <a:lstStyle/>
          <a:p>
            <a:pPr indent="0" marL="0">
              <a:buNone/>
            </a:pPr>
            <a:r>
              <a:rPr lang="en-US" sz="1500" dirty="0">
                <a:solidFill>
                  <a:srgbClr val="12141C"/>
                </a:solidFill>
                <a:latin typeface="Calibri" pitchFamily="34" charset="0"/>
                <a:ea typeface="Calibri" pitchFamily="34" charset="-122"/>
                <a:cs typeface="Calibri" pitchFamily="34" charset="-120"/>
              </a:rPr>
              <a:t>by the Ojas team, about 50 MB ONNX, built for phones</a:t>
            </a:r>
            <a:endParaRPr lang="en-US" sz="1500" dirty="0"/>
          </a:p>
        </p:txBody>
      </p:sp>
      <p:sp>
        <p:nvSpPr>
          <p:cNvPr id="14" name="Text 11"/>
          <p:cNvSpPr txBox="1"/>
          <p:nvPr/>
        </p:nvSpPr>
        <p:spPr>
          <a:xfrm>
            <a:off x="8869680" y="1554480"/>
            <a:ext cx="283464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Full 3D body, hands and fingers from one frame</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Better depth moves: squats, push-ups, lunges</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Live avatar copies your whole body</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Works when joints are hidden</a:t>
            </a:r>
            <a:endParaRPr lang="en-US" sz="1600" dirty="0"/>
          </a:p>
        </p:txBody>
      </p:sp>
      <p:sp>
        <p:nvSpPr>
          <p:cNvPr id="15" name="Shape 12"/>
          <p:cNvSpPr/>
          <p:nvPr/>
        </p:nvSpPr>
        <p:spPr>
          <a:xfrm>
            <a:off x="548640" y="3931920"/>
            <a:ext cx="7955280" cy="2103120"/>
          </a:xfrm>
          <a:prstGeom prst="roundRect">
            <a:avLst>
              <a:gd name="adj" fmla="val 5217"/>
            </a:avLst>
          </a:prstGeom>
          <a:solidFill>
            <a:srgbClr val="1F2333"/>
          </a:solidFill>
          <a:ln w="12700">
            <a:solidFill>
              <a:srgbClr val="1F2333"/>
            </a:solidFill>
            <a:prstDash val="solid"/>
          </a:ln>
        </p:spPr>
      </p:sp>
      <p:sp>
        <p:nvSpPr>
          <p:cNvPr id="16" name="Text 13"/>
          <p:cNvSpPr txBox="1"/>
          <p:nvPr/>
        </p:nvSpPr>
        <p:spPr>
          <a:xfrm>
            <a:off x="822960" y="4114800"/>
            <a:ext cx="7406640" cy="457200"/>
          </a:xfrm>
          <a:prstGeom prst="rect">
            <a:avLst/>
          </a:prstGeom>
          <a:noFill/>
          <a:ln/>
        </p:spPr>
        <p:txBody>
          <a:bodyPr wrap="square" lIns="0" tIns="0" rIns="0" bIns="0" rtlCol="0" anchor="t"/>
          <a:lstStyle/>
          <a:p>
            <a:pPr indent="0" marL="0">
              <a:buNone/>
            </a:pPr>
            <a:r>
              <a:rPr lang="en-US" sz="2200" b="1" dirty="0">
                <a:solidFill>
                  <a:srgbClr val="FFC247"/>
                </a:solidFill>
                <a:latin typeface="Cambria" pitchFamily="34" charset="0"/>
                <a:ea typeface="Cambria" pitchFamily="34" charset="-122"/>
                <a:cs typeface="Cambria" pitchFamily="34" charset="-120"/>
              </a:rPr>
              <a:t>Status: in training, coming soon</a:t>
            </a:r>
            <a:endParaRPr lang="en-US" sz="2200" dirty="0"/>
          </a:p>
        </p:txBody>
      </p:sp>
      <p:sp>
        <p:nvSpPr>
          <p:cNvPr id="17" name="Text 14"/>
          <p:cNvSpPr txBox="1"/>
          <p:nvPr/>
        </p:nvSpPr>
        <p:spPr>
          <a:xfrm>
            <a:off x="822960" y="4663440"/>
            <a:ext cx="7406640" cy="12801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Hybrid mode with MediaPipe is 2 to 2.5 times steadier than RAPTOR alone on hard clips. Latest score: 152 mm average joint error against the teacher on unseen clips. Fingers are the weakest part.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800" b="1" dirty="0">
                <a:solidFill>
                  <a:srgbClr val="12141C"/>
                </a:solidFill>
                <a:latin typeface="Cambria" pitchFamily="34" charset="0"/>
                <a:ea typeface="Cambria" pitchFamily="34" charset="-122"/>
                <a:cs typeface="Cambria" pitchFamily="34" charset="-120"/>
              </a:rPr>
              <a:t>Roadmap and what we are fixing</a:t>
            </a:r>
            <a:endParaRPr lang="en-US" sz="3800" dirty="0"/>
          </a:p>
        </p:txBody>
      </p:sp>
      <p:sp>
        <p:nvSpPr>
          <p:cNvPr id="4" name="Text 1"/>
          <p:cNvSpPr txBox="1"/>
          <p:nvPr/>
        </p:nvSpPr>
        <p:spPr>
          <a:xfrm>
            <a:off x="548640" y="1463040"/>
            <a:ext cx="5394960" cy="457200"/>
          </a:xfrm>
          <a:prstGeom prst="rect">
            <a:avLst/>
          </a:prstGeom>
          <a:noFill/>
          <a:ln/>
        </p:spPr>
        <p:txBody>
          <a:bodyPr wrap="square" lIns="0" tIns="0" rIns="0" bIns="0" rtlCol="0" anchor="t"/>
          <a:lstStyle/>
          <a:p>
            <a:pPr indent="0" marL="0">
              <a:buNone/>
            </a:pPr>
            <a:r>
              <a:rPr lang="en-US" sz="2600" b="1" dirty="0">
                <a:solidFill>
                  <a:srgbClr val="FF6A2B"/>
                </a:solidFill>
                <a:latin typeface="Cambria" pitchFamily="34" charset="0"/>
                <a:ea typeface="Cambria" pitchFamily="34" charset="-122"/>
                <a:cs typeface="Cambria" pitchFamily="34" charset="-120"/>
              </a:rPr>
              <a:t>Roadmap</a:t>
            </a:r>
            <a:endParaRPr lang="en-US" sz="2600" dirty="0"/>
          </a:p>
        </p:txBody>
      </p:sp>
      <p:sp>
        <p:nvSpPr>
          <p:cNvPr id="5" name="Shape 2"/>
          <p:cNvSpPr/>
          <p:nvPr/>
        </p:nvSpPr>
        <p:spPr>
          <a:xfrm>
            <a:off x="548640" y="2057400"/>
            <a:ext cx="502920" cy="502920"/>
          </a:xfrm>
          <a:prstGeom prst="ellipse">
            <a:avLst/>
          </a:prstGeom>
          <a:solidFill>
            <a:srgbClr val="FF6A2B"/>
          </a:solidFill>
          <a:ln w="12700">
            <a:solidFill>
              <a:srgbClr val="FF6A2B"/>
            </a:solidFill>
            <a:prstDash val="solid"/>
          </a:ln>
        </p:spPr>
      </p:sp>
      <p:sp>
        <p:nvSpPr>
          <p:cNvPr id="6" name="Text 3"/>
          <p:cNvSpPr txBox="1"/>
          <p:nvPr/>
        </p:nvSpPr>
        <p:spPr>
          <a:xfrm>
            <a:off x="54864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234440" y="2057400"/>
            <a:ext cx="4754880" cy="502920"/>
          </a:xfrm>
          <a:prstGeom prst="rect">
            <a:avLst/>
          </a:prstGeom>
          <a:noFill/>
          <a:ln/>
        </p:spPr>
        <p:txBody>
          <a:bodyPr wrap="square" lIns="0" tIns="0" rIns="0" bIns="0" rtlCol="0" anchor="ctr"/>
          <a:lstStyle/>
          <a:p>
            <a:pPr indent="0" marL="0">
              <a:buNone/>
            </a:pPr>
            <a:r>
              <a:rPr lang="en-US" sz="1700" dirty="0">
                <a:solidFill>
                  <a:srgbClr val="12141C"/>
                </a:solidFill>
                <a:latin typeface="Calibri" pitchFamily="34" charset="0"/>
                <a:ea typeface="Calibri" pitchFamily="34" charset="-122"/>
                <a:cs typeface="Calibri" pitchFamily="34" charset="-120"/>
              </a:rPr>
              <a:t>Finish RAPTOR training, improve fingers</a:t>
            </a:r>
            <a:endParaRPr lang="en-US" sz="1700" dirty="0"/>
          </a:p>
        </p:txBody>
      </p:sp>
      <p:sp>
        <p:nvSpPr>
          <p:cNvPr id="8" name="Shape 5"/>
          <p:cNvSpPr/>
          <p:nvPr/>
        </p:nvSpPr>
        <p:spPr>
          <a:xfrm>
            <a:off x="548640" y="2807208"/>
            <a:ext cx="502920" cy="502920"/>
          </a:xfrm>
          <a:prstGeom prst="ellipse">
            <a:avLst/>
          </a:prstGeom>
          <a:solidFill>
            <a:srgbClr val="FF6A2B"/>
          </a:solidFill>
          <a:ln w="12700">
            <a:solidFill>
              <a:srgbClr val="FF6A2B"/>
            </a:solidFill>
            <a:prstDash val="solid"/>
          </a:ln>
        </p:spPr>
      </p:sp>
      <p:sp>
        <p:nvSpPr>
          <p:cNvPr id="9" name="Text 6"/>
          <p:cNvSpPr txBox="1"/>
          <p:nvPr/>
        </p:nvSpPr>
        <p:spPr>
          <a:xfrm>
            <a:off x="548640" y="28072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234440" y="2807208"/>
            <a:ext cx="4754880" cy="502920"/>
          </a:xfrm>
          <a:prstGeom prst="rect">
            <a:avLst/>
          </a:prstGeom>
          <a:noFill/>
          <a:ln/>
        </p:spPr>
        <p:txBody>
          <a:bodyPr wrap="square" lIns="0" tIns="0" rIns="0" bIns="0" rtlCol="0" anchor="ctr"/>
          <a:lstStyle/>
          <a:p>
            <a:pPr indent="0" marL="0">
              <a:buNone/>
            </a:pPr>
            <a:r>
              <a:rPr lang="en-US" sz="1700" dirty="0">
                <a:solidFill>
                  <a:srgbClr val="12141C"/>
                </a:solidFill>
                <a:latin typeface="Calibri" pitchFamily="34" charset="0"/>
                <a:ea typeface="Calibri" pitchFamily="34" charset="-122"/>
                <a:cs typeface="Calibri" pitchFamily="34" charset="-120"/>
              </a:rPr>
              <a:t>Add consented and synthetic data</a:t>
            </a:r>
            <a:endParaRPr lang="en-US" sz="1700" dirty="0"/>
          </a:p>
        </p:txBody>
      </p:sp>
      <p:sp>
        <p:nvSpPr>
          <p:cNvPr id="11" name="Shape 8"/>
          <p:cNvSpPr/>
          <p:nvPr/>
        </p:nvSpPr>
        <p:spPr>
          <a:xfrm>
            <a:off x="548640" y="3557016"/>
            <a:ext cx="502920" cy="502920"/>
          </a:xfrm>
          <a:prstGeom prst="ellipse">
            <a:avLst/>
          </a:prstGeom>
          <a:solidFill>
            <a:srgbClr val="FF6A2B"/>
          </a:solidFill>
          <a:ln w="12700">
            <a:solidFill>
              <a:srgbClr val="FF6A2B"/>
            </a:solidFill>
            <a:prstDash val="solid"/>
          </a:ln>
        </p:spPr>
      </p:sp>
      <p:sp>
        <p:nvSpPr>
          <p:cNvPr id="12" name="Text 9"/>
          <p:cNvSpPr txBox="1"/>
          <p:nvPr/>
        </p:nvSpPr>
        <p:spPr>
          <a:xfrm>
            <a:off x="548640" y="35570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234440" y="3557016"/>
            <a:ext cx="4754880" cy="502920"/>
          </a:xfrm>
          <a:prstGeom prst="rect">
            <a:avLst/>
          </a:prstGeom>
          <a:noFill/>
          <a:ln/>
        </p:spPr>
        <p:txBody>
          <a:bodyPr wrap="square" lIns="0" tIns="0" rIns="0" bIns="0" rtlCol="0" anchor="ctr"/>
          <a:lstStyle/>
          <a:p>
            <a:pPr indent="0" marL="0">
              <a:buNone/>
            </a:pPr>
            <a:r>
              <a:rPr lang="en-US" sz="1700" dirty="0">
                <a:solidFill>
                  <a:srgbClr val="12141C"/>
                </a:solidFill>
                <a:latin typeface="Calibri" pitchFamily="34" charset="0"/>
                <a:ea typeface="Calibri" pitchFamily="34" charset="-122"/>
                <a:cs typeface="Calibri" pitchFamily="34" charset="-120"/>
              </a:rPr>
              <a:t>Run RAPTOR on device in hybrid mode</a:t>
            </a:r>
            <a:endParaRPr lang="en-US" sz="1700" dirty="0"/>
          </a:p>
        </p:txBody>
      </p:sp>
      <p:sp>
        <p:nvSpPr>
          <p:cNvPr id="14" name="Shape 11"/>
          <p:cNvSpPr/>
          <p:nvPr/>
        </p:nvSpPr>
        <p:spPr>
          <a:xfrm>
            <a:off x="548640" y="4306824"/>
            <a:ext cx="502920" cy="502920"/>
          </a:xfrm>
          <a:prstGeom prst="ellipse">
            <a:avLst/>
          </a:prstGeom>
          <a:solidFill>
            <a:srgbClr val="FF6A2B"/>
          </a:solidFill>
          <a:ln w="12700">
            <a:solidFill>
              <a:srgbClr val="FF6A2B"/>
            </a:solidFill>
            <a:prstDash val="solid"/>
          </a:ln>
        </p:spPr>
      </p:sp>
      <p:sp>
        <p:nvSpPr>
          <p:cNvPr id="15" name="Text 12"/>
          <p:cNvSpPr txBox="1"/>
          <p:nvPr/>
        </p:nvSpPr>
        <p:spPr>
          <a:xfrm>
            <a:off x="548640" y="43068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234440" y="4306824"/>
            <a:ext cx="4754880" cy="502920"/>
          </a:xfrm>
          <a:prstGeom prst="rect">
            <a:avLst/>
          </a:prstGeom>
          <a:noFill/>
          <a:ln/>
        </p:spPr>
        <p:txBody>
          <a:bodyPr wrap="square" lIns="0" tIns="0" rIns="0" bIns="0" rtlCol="0" anchor="ctr"/>
          <a:lstStyle/>
          <a:p>
            <a:pPr indent="0" marL="0">
              <a:buNone/>
            </a:pPr>
            <a:r>
              <a:rPr lang="en-US" sz="1700" dirty="0">
                <a:solidFill>
                  <a:srgbClr val="12141C"/>
                </a:solidFill>
                <a:latin typeface="Calibri" pitchFamily="34" charset="0"/>
                <a:ea typeface="Calibri" pitchFamily="34" charset="-122"/>
                <a:cs typeface="Calibri" pitchFamily="34" charset="-120"/>
              </a:rPr>
              <a:t>Measure real phone speed and battery</a:t>
            </a:r>
            <a:endParaRPr lang="en-US" sz="1700" dirty="0"/>
          </a:p>
        </p:txBody>
      </p:sp>
      <p:sp>
        <p:nvSpPr>
          <p:cNvPr id="17" name="Shape 14"/>
          <p:cNvSpPr/>
          <p:nvPr/>
        </p:nvSpPr>
        <p:spPr>
          <a:xfrm>
            <a:off x="548640" y="5056632"/>
            <a:ext cx="502920" cy="502920"/>
          </a:xfrm>
          <a:prstGeom prst="ellipse">
            <a:avLst/>
          </a:prstGeom>
          <a:solidFill>
            <a:srgbClr val="FF6A2B"/>
          </a:solidFill>
          <a:ln w="12700">
            <a:solidFill>
              <a:srgbClr val="FF6A2B"/>
            </a:solidFill>
            <a:prstDash val="solid"/>
          </a:ln>
        </p:spPr>
      </p:sp>
      <p:sp>
        <p:nvSpPr>
          <p:cNvPr id="18" name="Text 15"/>
          <p:cNvSpPr txBox="1"/>
          <p:nvPr/>
        </p:nvSpPr>
        <p:spPr>
          <a:xfrm>
            <a:off x="548640" y="5056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234440" y="5056632"/>
            <a:ext cx="4754880" cy="502920"/>
          </a:xfrm>
          <a:prstGeom prst="rect">
            <a:avLst/>
          </a:prstGeom>
          <a:noFill/>
          <a:ln/>
        </p:spPr>
        <p:txBody>
          <a:bodyPr wrap="square" lIns="0" tIns="0" rIns="0" bIns="0" rtlCol="0" anchor="ctr"/>
          <a:lstStyle/>
          <a:p>
            <a:pPr indent="0" marL="0">
              <a:buNone/>
            </a:pPr>
            <a:r>
              <a:rPr lang="en-US" sz="1700" dirty="0">
                <a:solidFill>
                  <a:srgbClr val="12141C"/>
                </a:solidFill>
                <a:latin typeface="Calibri" pitchFamily="34" charset="0"/>
                <a:ea typeface="Calibri" pitchFamily="34" charset="-122"/>
                <a:cs typeface="Calibri" pitchFamily="34" charset="-120"/>
              </a:rPr>
              <a:t>Enable per device, MediaPipe as fallback</a:t>
            </a:r>
            <a:endParaRPr lang="en-US" sz="1700" dirty="0"/>
          </a:p>
        </p:txBody>
      </p:sp>
      <p:sp>
        <p:nvSpPr>
          <p:cNvPr id="20" name="Shape 17"/>
          <p:cNvSpPr/>
          <p:nvPr/>
        </p:nvSpPr>
        <p:spPr>
          <a:xfrm>
            <a:off x="6309360" y="1463040"/>
            <a:ext cx="5303520" cy="4480560"/>
          </a:xfrm>
          <a:prstGeom prst="roundRect">
            <a:avLst>
              <a:gd name="adj" fmla="val 2449"/>
            </a:avLst>
          </a:prstGeom>
          <a:solidFill>
            <a:srgbClr val="F3F4F7"/>
          </a:solidFill>
          <a:ln w="12700">
            <a:solidFill>
              <a:srgbClr val="F3F4F7"/>
            </a:solidFill>
            <a:prstDash val="solid"/>
          </a:ln>
        </p:spPr>
      </p:sp>
      <p:sp>
        <p:nvSpPr>
          <p:cNvPr id="21" name="Text 18"/>
          <p:cNvSpPr txBox="1"/>
          <p:nvPr/>
        </p:nvSpPr>
        <p:spPr>
          <a:xfrm>
            <a:off x="6583680" y="1691640"/>
            <a:ext cx="4754880" cy="457200"/>
          </a:xfrm>
          <a:prstGeom prst="rect">
            <a:avLst/>
          </a:prstGeom>
          <a:noFill/>
          <a:ln/>
        </p:spPr>
        <p:txBody>
          <a:bodyPr wrap="square" lIns="0" tIns="0" rIns="0" bIns="0" rtlCol="0" anchor="t"/>
          <a:lstStyle/>
          <a:p>
            <a:pPr indent="0" marL="0">
              <a:buNone/>
            </a:pPr>
            <a:r>
              <a:rPr lang="en-US" sz="2400" b="1" dirty="0">
                <a:solidFill>
                  <a:srgbClr val="12141C"/>
                </a:solidFill>
                <a:latin typeface="Cambria" pitchFamily="34" charset="0"/>
                <a:ea typeface="Cambria" pitchFamily="34" charset="-122"/>
                <a:cs typeface="Cambria" pitchFamily="34" charset="-120"/>
              </a:rPr>
              <a:t>Known issues we are tracking</a:t>
            </a:r>
            <a:endParaRPr lang="en-US" sz="2400" dirty="0"/>
          </a:p>
        </p:txBody>
      </p:sp>
      <p:sp>
        <p:nvSpPr>
          <p:cNvPr id="22" name="Text 19"/>
          <p:cNvSpPr txBox="1"/>
          <p:nvPr/>
        </p:nvSpPr>
        <p:spPr>
          <a:xfrm>
            <a:off x="6583680" y="2331720"/>
            <a:ext cx="4754880" cy="34747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2141C"/>
                </a:solidFill>
                <a:latin typeface="Calibri" pitchFamily="34" charset="0"/>
                <a:ea typeface="Calibri" pitchFamily="34" charset="-122"/>
                <a:cs typeface="Calibri" pitchFamily="34" charset="-120"/>
              </a:rPr>
              <a:t>Add an identity check to the match-result database function</a:t>
            </a:r>
            <a:endParaRPr lang="en-US" sz="1700" dirty="0"/>
          </a:p>
          <a:p>
            <a:pPr marL="342900" indent="-342900">
              <a:spcAft>
                <a:spcPts val="1200"/>
              </a:spcAft>
              <a:buSzPct val="100000"/>
              <a:buChar char="•"/>
            </a:pPr>
            <a:r>
              <a:rPr lang="en-US" sz="1700" dirty="0">
                <a:solidFill>
                  <a:srgbClr val="12141C"/>
                </a:solidFill>
                <a:latin typeface="Calibri" pitchFamily="34" charset="0"/>
                <a:ea typeface="Calibri" pitchFamily="34" charset="-122"/>
                <a:cs typeface="Calibri" pitchFamily="34" charset="-120"/>
              </a:rPr>
              <a:t>Points shown in the UI differ from recorded points for draws, AI defeats and free-for-all</a:t>
            </a:r>
            <a:endParaRPr lang="en-US" sz="1700" dirty="0"/>
          </a:p>
          <a:p>
            <a:pPr marL="342900" indent="-342900">
              <a:spcAft>
                <a:spcPts val="1200"/>
              </a:spcAft>
              <a:buSzPct val="100000"/>
              <a:buChar char="•"/>
            </a:pPr>
            <a:r>
              <a:rPr lang="en-US" sz="1700" dirty="0">
                <a:solidFill>
                  <a:srgbClr val="12141C"/>
                </a:solidFill>
                <a:latin typeface="Calibri" pitchFamily="34" charset="0"/>
                <a:ea typeface="Calibri" pitchFamily="34" charset="-122"/>
                <a:cs typeface="Calibri" pitchFamily="34" charset="-120"/>
              </a:rPr>
              <a:t>README and video narration need a refresh</a:t>
            </a:r>
            <a:endParaRPr lang="en-US" sz="1700" dirty="0"/>
          </a:p>
          <a:p>
            <a:pPr marL="342900" indent="-342900">
              <a:spcAft>
                <a:spcPts val="1200"/>
              </a:spcAft>
              <a:buSzPct val="100000"/>
              <a:buChar char="•"/>
            </a:pPr>
            <a:r>
              <a:rPr lang="en-US" sz="1700" dirty="0">
                <a:solidFill>
                  <a:srgbClr val="12141C"/>
                </a:solidFill>
                <a:latin typeface="Calibri" pitchFamily="34" charset="0"/>
                <a:ea typeface="Calibri" pitchFamily="34" charset="-122"/>
                <a:cs typeface="Calibri" pitchFamily="34" charset="-120"/>
              </a:rPr>
              <a:t>Some unused dependencies to remove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41C"/>
        </a:solidFill>
      </p:bgPr>
    </p:bg>
    <p:spTree>
      <p:nvGrpSpPr>
        <p:cNvPr id="1" name=""/>
        <p:cNvGrpSpPr/>
        <p:nvPr/>
      </p:nvGrpSpPr>
      <p:grpSpPr>
        <a:xfrm>
          <a:off x="0" y="0"/>
          <a:ext cx="0" cy="0"/>
          <a:chOff x="0" y="0"/>
          <a:chExt cx="0" cy="0"/>
        </a:xfrm>
      </p:grpSpPr>
      <p:sp>
        <p:nvSpPr>
          <p:cNvPr id="3" name="Shape 0"/>
          <p:cNvSpPr/>
          <p:nvPr/>
        </p:nvSpPr>
        <p:spPr>
          <a:xfrm>
            <a:off x="8595360" y="1097280"/>
            <a:ext cx="3474720" cy="3474720"/>
          </a:xfrm>
          <a:prstGeom prst="ellipse">
            <a:avLst/>
          </a:prstGeom>
          <a:solidFill>
            <a:srgbClr val="FF6A2B">
              <a:alpha val="22000"/>
            </a:srgbClr>
          </a:solidFill>
          <a:ln w="12700">
            <a:solidFill>
              <a:srgbClr val="FF6A2B">
                <a:alpha val="22000"/>
              </a:srgbClr>
            </a:solidFill>
            <a:prstDash val="solid"/>
          </a:ln>
        </p:spPr>
      </p:sp>
      <p:sp>
        <p:nvSpPr>
          <p:cNvPr id="4" name="Text 1"/>
          <p:cNvSpPr txBox="1"/>
          <p:nvPr/>
        </p:nvSpPr>
        <p:spPr>
          <a:xfrm>
            <a:off x="731520" y="2011680"/>
            <a:ext cx="8229600" cy="109728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Train. Compete. Level up.</a:t>
            </a:r>
            <a:endParaRPr lang="en-US" sz="5400" dirty="0"/>
          </a:p>
        </p:txBody>
      </p:sp>
      <p:sp>
        <p:nvSpPr>
          <p:cNvPr id="5" name="Text 2"/>
          <p:cNvSpPr txBox="1"/>
          <p:nvPr/>
        </p:nvSpPr>
        <p:spPr>
          <a:xfrm>
            <a:off x="731520" y="3383280"/>
            <a:ext cx="7772400" cy="822960"/>
          </a:xfrm>
          <a:prstGeom prst="rect">
            <a:avLst/>
          </a:prstGeom>
          <a:noFill/>
          <a:ln/>
        </p:spPr>
        <p:txBody>
          <a:bodyPr wrap="square" lIns="0" tIns="0" rIns="0" bIns="0" rtlCol="0" anchor="t"/>
          <a:lstStyle/>
          <a:p>
            <a:pPr indent="0" marL="0">
              <a:buNone/>
            </a:pPr>
            <a:r>
              <a:rPr lang="en-US" sz="2200" dirty="0">
                <a:solidFill>
                  <a:srgbClr val="C9CCD8"/>
                </a:solidFill>
                <a:latin typeface="Calibri" pitchFamily="34" charset="0"/>
                <a:ea typeface="Calibri" pitchFamily="34" charset="-122"/>
                <a:cs typeface="Calibri" pitchFamily="34" charset="-120"/>
              </a:rPr>
              <a:t>Private on your phone, precise with AI, and more fun with friends.</a:t>
            </a:r>
            <a:endParaRPr lang="en-US" sz="2200" dirty="0"/>
          </a:p>
        </p:txBody>
      </p:sp>
      <p:sp>
        <p:nvSpPr>
          <p:cNvPr id="6" name="Text 3"/>
          <p:cNvSpPr txBox="1"/>
          <p:nvPr/>
        </p:nvSpPr>
        <p:spPr>
          <a:xfrm>
            <a:off x="731520" y="4846320"/>
            <a:ext cx="7315200" cy="548640"/>
          </a:xfrm>
          <a:prstGeom prst="rect">
            <a:avLst/>
          </a:prstGeom>
          <a:noFill/>
          <a:ln/>
        </p:spPr>
        <p:txBody>
          <a:bodyPr wrap="square" lIns="0" tIns="0" rIns="0" bIns="0" rtlCol="0" anchor="t"/>
          <a:lstStyle/>
          <a:p>
            <a:pPr indent="0" marL="0">
              <a:buNone/>
            </a:pPr>
            <a:r>
              <a:rPr lang="en-US" sz="2600" b="1" dirty="0">
                <a:solidFill>
                  <a:srgbClr val="FF6A2B"/>
                </a:solidFill>
                <a:latin typeface="Calibri" pitchFamily="34" charset="0"/>
                <a:ea typeface="Calibri" pitchFamily="34" charset="-122"/>
                <a:cs typeface="Calibri" pitchFamily="34" charset="-120"/>
              </a:rPr>
              <a:t>Thank you  |  Questions?</a:t>
            </a:r>
            <a:endParaRPr lang="en-US" sz="2600" dirty="0"/>
          </a:p>
        </p:txBody>
      </p:sp>
    </p:spTree>
  </p:cSld>
  <p:clrMapOvr>
    <a:masterClrMapping/>
  </p:clrMapOvr>
</p:sld>
</file>

<file path=ppt/theme/theme1.xml><?xml version="1.0" encoding="utf-8"?>
<a:theme xmlns:a="http://schemas.openxmlformats.org/drawingml/2006/main" name="Ojas">
  <a:themeElements>
    <a:clrScheme name="Ojas">
      <a:dk1>
        <a:srgbClr val="12141C"/>
      </a:dk1>
      <a:lt1>
        <a:srgbClr val="FFFFFF"/>
      </a:lt1>
      <a:dk2>
        <a:srgbClr val="1F2333"/>
      </a:dk2>
      <a:lt2>
        <a:srgbClr val="F3F4F7"/>
      </a:lt2>
      <a:accent1>
        <a:srgbClr val="FF6A2B"/>
      </a:accent1>
      <a:accent2>
        <a:srgbClr val="2EC4B6"/>
      </a:accent2>
      <a:accent3>
        <a:srgbClr val="FFC247"/>
      </a:accent3>
      <a:accent4>
        <a:srgbClr val="7C5CFF"/>
      </a:accent4>
      <a:accent5>
        <a:srgbClr val="3A86FF"/>
      </a:accent5>
      <a:accent6>
        <a:srgbClr val="8A90A6"/>
      </a:accent6>
      <a:hlink>
        <a:srgbClr val="FF6A2B"/>
      </a:hlink>
      <a:folHlink>
        <a:srgbClr val="8A90A6"/>
      </a:folHlink>
    </a:clrScheme>
    <a:fontScheme name="Oj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Ojas: AI Workout and Fitness Battles</dc:title>
  <dc:subject>PptxGenJS Presentation</dc:subject>
  <dc:creator>PptxGenJS</dc:creator>
  <cp:lastModifiedBy>PptxGenJS</cp:lastModifiedBy>
  <cp:revision>1</cp:revision>
  <dcterms:created xsi:type="dcterms:W3CDTF">2026-10-13T18:39:20Z</dcterms:created>
  <dcterms:modified xsi:type="dcterms:W3CDTF">2026-10-13T18:39:20Z</dcterms:modified>
</cp:coreProperties>
</file>